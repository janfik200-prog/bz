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80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890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Доклад про базу знаний для прогноза оруденения на Анабарском щите.</a:t>
            </a:r>
          </a:p>
          <a:p>
            <a:r>
              <a:t>Сначала коротко, что это. Система из двух частей. Первая — языковая модель: её задача сопоставить данные о нашей территории с тем, что известно о похожих месторождениях. Но чтобы сопоставлять, надо откуда-то брать это «известно» — поэтому модель сама ищет литературу, разбирает её и складывает в базу. Вторая часть — сама база: не свалка PDF, а литература, разложенная на смысловые фрагменты, и у каждого записано, из какой статьи и с какой страницы он взят.</a:t>
            </a:r>
          </a:p>
          <a:p>
            <a:r>
              <a:t>Дальше — зачем это нужно, как устроено и что уже сделано. Минут семь.</a:t>
            </a:r>
          </a:p>
          <a:p>
            <a:r>
              <a:t>Держать в голове: говорить по факту. Где не доделано — сказать прямо, не обещать.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Сразу отвечу на вопрос «зачем».</a:t>
            </a:r>
          </a:p>
          <a:p>
            <a:r>
              <a:t>База знаний — не конечный продукт, а сырьё. Из неё собирается датасет: признаки, по которым выделяют рудные узлы, пороговые значения, методы, эталонные примеры. Всё это выписано из литературы, а не придумано.</a:t>
            </a:r>
          </a:p>
          <a:p>
            <a:r>
              <a:t>И уже датасет применяется к нашей территории — Анабарскому щиту.</a:t>
            </a:r>
          </a:p>
          <a:p>
            <a:r>
              <a:t>То есть цепочка из трёх звеньев, и база — только первое. Сама по себе она ничего не прогнозирует.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Весь путь целиком, шесть шагов.</a:t>
            </a:r>
          </a:p>
          <a:p>
            <a:r>
              <a:t>Первое — источники: три научных каталога, откуда берутся статьи. Второе — отбор: по теме статья или мимо. Третье — разбор PDF: достаём текст, разделы, таблицы и номера страниц. Четвёртое — режем на фрагменты. Пятое — кладём в базу. Шестое — поиск.</a:t>
            </a:r>
          </a:p>
          <a:p>
            <a:r>
              <a:t>Если назвать формально, что получилось: гибридная база знаний документного типа. Гибридная — потому что три способа доступа к одним и тем же фрагментам: по смыслу, по точным словам и по связям. Документного типа — потому что хранятся не факты, а фрагменты статей, и любое утверждение прослеживается до страницы источника. И это не онтология: схема понятий заранее не задана, граф строится поверх текстов.</a:t>
            </a:r>
          </a:p>
          <a:p>
            <a:r>
              <a:t>Всё крутится на одной машине. Наружу система выходит только за самими статьями: ни запросы, ни тексты никуда не передаются.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Подключены три источника.</a:t>
            </a:r>
          </a:p>
          <a:p>
            <a:r>
              <a:t>OpenAlex — открытый каталог научных работ, больше двухсот пятидесяти миллионов записей, индексирует и русскую периодику с DOI. Crossref — регистратор DOI: метаданные всех статей, у которых DOI вообще есть. MDPI — издательство открытого доступа; собственный поиск у него закрыт, поэтому идём через Crossref по коду издателя.</a:t>
            </a:r>
          </a:p>
          <a:p>
            <a:r>
              <a:t>Скажу прямо: eLibrary, Lens и КиберЛенинка автоматике не отдаются — где-то нет API, где-то проверка на робота. А основная русская литература по Анабару живёт именно там. Эту часть заносим руками: кладём PDF, и дальше он проходит ровно тот же путь, что и скачанный автоматически.</a:t>
            </a:r>
          </a:p>
          <a:p>
            <a:r>
              <a:t>Зато добавить новый источник может любой: список в отдельном файле, дописать адрес и соответствие полей. Программист не нужен.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Человек пишет одну строку обычными словами — «выделение рудных узлов». Дальше он в поиск не вмешивается.</a:t>
            </a:r>
          </a:p>
          <a:p>
            <a:r>
              <a:t>Эту строку получает Qwen3-14B и раскладывает на пять запросов: английские, русские, с синонимами. Одни и те же работы в разных каталогах ищутся по-разному, поэтому одного запроса мало.</a:t>
            </a:r>
          </a:p>
          <a:p>
            <a:r>
              <a:t>Две детали, которые мы получили на живых прогонах. Кавычки обязательны: без них «ore cluster» искалось по словам отдельно и приводило статьи про звёздные скопления в Орионе. И географические названия нельзя терять при переводе — сначала «Анабарский щит металлогения» превращалось просто в shield metallogeny, и мы получали щиты всего мира вместо своего.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Статья не хранится и не ищется целиком. Она режется на фрагменты по границам разделов: методика отдельно, признаки отдельно, результаты отдельно.</a:t>
            </a:r>
          </a:p>
          <a:p>
            <a:r>
              <a:t>Размер — пятьсот двенадцать токенов. По факту выходит от девяти до тридцати фрагментов на статью.</a:t>
            </a:r>
          </a:p>
          <a:p>
            <a:r>
              <a:t>Считаем в токенах, и тем же токенайзером, которым пользуется модель. Он кодирует русский вдвое экономнее английского — счёт по символам ошибся бы в разы.</a:t>
            </a:r>
          </a:p>
          <a:p>
            <a:r>
              <a:t>Смысл в том, что поиск находит не «статью, где что-то похожее», а конкретный абзац, отвечающий на вопрос.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фрагмент превращается в вектор — тысяча двадцать четыре числа. Это координаты точки в пространстве смыслов.</a:t>
            </a:r>
          </a:p>
          <a:p>
            <a:r>
              <a:t>Близость двух фрагментов — косинус угла между векторами. Векторы нормированы, поэтому косинус сводится к обычному скалярному произведению.</a:t>
            </a:r>
          </a:p>
          <a:p>
            <a:r>
              <a:t>На нашем корпусе шкала такая: выше шести десятых — текст действительно про то же самое; три–четыре десятых — случайный сосед.</a:t>
            </a:r>
          </a:p>
          <a:p>
            <a:r>
              <a:t>Это важно, потому что векторный поиск находит что-нибудь всегда, даже когда подходящего в базе нет. Поэтому стоит порог отсечения.</a:t>
            </a:r>
          </a:p>
          <a:p>
            <a:r>
              <a:t>И модель многоязычная: русский и английский в одном пространстве, поэтому русский запрос находит англоязычную статью без перевода.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Одного способа мало.</a:t>
            </a:r>
          </a:p>
          <a:p>
            <a:r>
              <a:t>Поиск по смыслу находит нужное, даже если слова совсем другие. Но теряет точные строки — название площади, номер листа.</a:t>
            </a:r>
          </a:p>
          <a:p>
            <a:r>
              <a:t>Поиск по словам наоборот: точные названия находит, смысла не понимает. Русский словарь снимает окончания, так что «рудного узла» ищется по «рудный узел».</a:t>
            </a:r>
          </a:p>
          <a:p>
            <a:r>
              <a:t>Работают оба, а результаты объединяются формулой RRF.</a:t>
            </a:r>
          </a:p>
          <a:p>
            <a:r>
              <a:t>Ключевая мысль: складывать сами оценки нельзя. Косинус от нуля до единицы, текстовый ранг ничем сверху не ограничен — они несопоставимы. А места в списках сопоставимы всегда. Поэтому складываем не оценки, а обратные величины от мест.</a:t>
            </a:r>
          </a:p>
          <a:p>
            <a:r>
              <a:t>Пример на слайде: фрагмент первый по смыслу и третий по словам — выходит три сотых с небольшим.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Поверх текстов строится граф. Вот как он работает на простом примере.</a:t>
            </a:r>
          </a:p>
          <a:p>
            <a:r>
              <a:t>Слева три разные статьи. Из каждой выписаны признаки, и они сходятся в один общий датасет — плотность линеаментов, разломы, аномалии. Это и есть то, ради чего собиралась база: признаки из разных работ в одном месте.</a:t>
            </a:r>
          </a:p>
          <a:p>
            <a:r>
              <a:t>Справа — методы, которыми эти признаки изучали. Каждый метод пришёл из своей статьи, и рядом написано, из какой именно. То есть по графу можно идти в обе стороны: от признака — к методам, от метода — обратно к статье.</a:t>
            </a:r>
          </a:p>
          <a:p>
            <a:r>
              <a:t>Стрелки вверх означают, что датасет связан не только с этим: к нему цепляются рудные узлы, территории, другие признаки. Граф на этом не заканчивается.</a:t>
            </a:r>
          </a:p>
          <a:p>
            <a:r>
              <a:t>И скажу точно, что означает связь: об этих двух написано в одной статье. Больше ничего. Я намеренно не делал «силу связи ноль целых семьдесят три» — такое число выглядит убедительно, а проверить его нельзя. Здесь за каждой связью стоит список статей, который можно открыть и прочитать.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Коротко, кто что делает.</a:t>
            </a:r>
          </a:p>
          <a:p>
            <a:r>
              <a:t>Qwen3-14B — языковая модель: составляет запросы, отбирает статьи, вытаскивает связи. Локально, на видеокарте.</a:t>
            </a:r>
          </a:p>
          <a:p>
            <a:r>
              <a:t>Docling — разбирает PDF.</a:t>
            </a:r>
          </a:p>
          <a:p>
            <a:r>
              <a:t>BGE-M3 — превращает текст в векторы.</a:t>
            </a:r>
          </a:p>
          <a:p>
            <a:r>
              <a:t>PostgreSQL с расширением pgvector — хранит всё: фрагменты, оба индекса и граф.</a:t>
            </a:r>
          </a:p>
          <a:p>
            <a:r>
              <a:t>RRF — объединяет два поиска; это просто формула, модели там нет.</a:t>
            </a:r>
          </a:p>
          <a:p>
            <a:r>
              <a:t>Всё на одной машине, данные не покидают периметр.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Доклад про базу знаний для прогноза оруденения на Анабарском щите.</a:t>
            </a:r>
          </a:p>
          <a:p>
            <a:r>
              <a:t>Сначала коротко, что это. Система из двух частей. Первая — языковая модель: её задача сопоставить данные о нашей территории с тем, что известно о похожих месторождениях. Но чтобы сопоставлять, надо откуда-то брать это «известно» — поэтому модель сама ищет литературу, разбирает её и складывает в базу. Вторая часть — сама база: не свалка PDF, а литература, разложенная на смысловые фрагменты, и у каждого записано, из какой статьи и с какой страницы он взят.</a:t>
            </a:r>
          </a:p>
          <a:p>
            <a:r>
              <a:t>Дальше — зачем это нужно, как устроено и что уже сделано. Минут семь.</a:t>
            </a:r>
          </a:p>
          <a:p>
            <a:r>
              <a:t>Держать в голове: говорить по факту. Где не доделано — сказать прямо, не обещать.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025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E0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ПРОГНОЗА ОРУДЕНЕНИЯ · АНАБАРСКИЙ ЩИТ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r>
              <a:rPr lang="en-US" sz="60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аза</a:t>
            </a:r>
            <a:r>
              <a:rPr lang="en-US" sz="60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знаний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устроена система, которая сама ищет, разбирает и связывает геологические знания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2377440" cy="73152"/>
          </a:xfrm>
          <a:prstGeom prst="rect">
            <a:avLst/>
          </a:prstGeom>
          <a:solidFill>
            <a:srgbClr val="B0432A"/>
          </a:solidFill>
          <a:ln w="12700">
            <a:solidFill>
              <a:srgbClr val="B0432A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B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знаний — это сырьё, а не результат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3520440" cy="333756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240280"/>
            <a:ext cx="457200" cy="128016"/>
          </a:xfrm>
          <a:prstGeom prst="rect">
            <a:avLst/>
          </a:prstGeom>
          <a:solidFill>
            <a:srgbClr val="3B4A7A"/>
          </a:solidFill>
          <a:ln w="12700">
            <a:solidFill>
              <a:srgbClr val="3B4A7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5146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знаний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47472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700" smtClean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Литература, </a:t>
            </a:r>
            <a:r>
              <a:rPr lang="en-US" sz="17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разобранная на фрагменты с ссылками на источник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133088" y="3611880"/>
            <a:ext cx="320040" cy="0"/>
          </a:xfrm>
          <a:prstGeom prst="line">
            <a:avLst/>
          </a:prstGeom>
          <a:noFill/>
          <a:ln w="38100">
            <a:solidFill>
              <a:srgbClr val="1C1917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4343400" y="1965960"/>
            <a:ext cx="3520440" cy="333756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7720" y="2240280"/>
            <a:ext cx="457200" cy="128016"/>
          </a:xfrm>
          <a:prstGeom prst="rect">
            <a:avLst/>
          </a:prstGeom>
          <a:solidFill>
            <a:srgbClr val="1F5F5D"/>
          </a:solidFill>
          <a:ln w="12700">
            <a:solidFill>
              <a:srgbClr val="1F5F5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7720" y="25146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5F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 признаков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347472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7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Признаки, пороговые значения, методы и эталонные примеры, выписанные из литературы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27848" y="3611880"/>
            <a:ext cx="320040" cy="0"/>
          </a:xfrm>
          <a:prstGeom prst="line">
            <a:avLst/>
          </a:prstGeom>
          <a:noFill/>
          <a:ln w="38100">
            <a:solidFill>
              <a:srgbClr val="1C1917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8138160" y="1965960"/>
            <a:ext cx="3520440" cy="333756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12480" y="2240280"/>
            <a:ext cx="457200" cy="128016"/>
          </a:xfrm>
          <a:prstGeom prst="rect">
            <a:avLst/>
          </a:prstGeom>
          <a:solidFill>
            <a:srgbClr val="B0432A"/>
          </a:solidFill>
          <a:ln w="12700">
            <a:solidFill>
              <a:srgbClr val="B043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12480" y="25146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Наша территория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412480" y="347472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300"/>
              </a:lnSpc>
              <a:buNone/>
            </a:pPr>
            <a:r>
              <a:rPr lang="en-US" sz="17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Прогнозная модель по Анабарскому щиту, построенная на этих признаках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03504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 надо всю цепочку: сама по себе база знаний ничего не прогнозирует — она даёт материал, из которого собирается датасет.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B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источника до ответа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20440" cy="164592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011680"/>
            <a:ext cx="475488" cy="475488"/>
          </a:xfrm>
          <a:prstGeom prst="rect">
            <a:avLst/>
          </a:prstGeom>
          <a:solidFill>
            <a:srgbClr val="B0432A"/>
          </a:solidFill>
          <a:ln w="12700">
            <a:solidFill>
              <a:srgbClr val="B0432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81328" y="20391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6974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OpenAlex · Crossref · MDPI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133088" y="2606040"/>
            <a:ext cx="320040" cy="0"/>
          </a:xfrm>
          <a:prstGeom prst="line">
            <a:avLst/>
          </a:prstGeom>
          <a:noFill/>
          <a:ln w="38100">
            <a:solidFill>
              <a:srgbClr val="1C191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343400" y="1783080"/>
            <a:ext cx="3520440" cy="164592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17720" y="2011680"/>
            <a:ext cx="475488" cy="475488"/>
          </a:xfrm>
          <a:prstGeom prst="rect">
            <a:avLst/>
          </a:prstGeom>
          <a:solidFill>
            <a:srgbClr val="1F5F5D"/>
          </a:solidFill>
          <a:ln w="12700">
            <a:solidFill>
              <a:srgbClr val="1F5F5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17720" y="2011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276088" y="20391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Отбор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617720" y="26974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теме или мимо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927848" y="2606040"/>
            <a:ext cx="320040" cy="0"/>
          </a:xfrm>
          <a:prstGeom prst="line">
            <a:avLst/>
          </a:prstGeom>
          <a:noFill/>
          <a:ln w="38100">
            <a:solidFill>
              <a:srgbClr val="1C191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8138160" y="1783080"/>
            <a:ext cx="3520440" cy="164592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412480" y="2011680"/>
            <a:ext cx="475488" cy="475488"/>
          </a:xfrm>
          <a:prstGeom prst="rect">
            <a:avLst/>
          </a:prstGeom>
          <a:solidFill>
            <a:srgbClr val="B0432A"/>
          </a:solidFill>
          <a:ln w="12700">
            <a:solidFill>
              <a:srgbClr val="B0432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12480" y="20116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9070848" y="20391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PDF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8412480" y="26974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разделы, таблицы, страницы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48640" y="3794760"/>
            <a:ext cx="3520440" cy="164592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" y="4023360"/>
            <a:ext cx="475488" cy="475488"/>
          </a:xfrm>
          <a:prstGeom prst="rect">
            <a:avLst/>
          </a:prstGeom>
          <a:solidFill>
            <a:srgbClr val="B0432A"/>
          </a:solidFill>
          <a:ln w="12700">
            <a:solidFill>
              <a:srgbClr val="B0432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4023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1481328" y="40507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Фрагменты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47091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токенов, с номерами страниц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4133088" y="4617720"/>
            <a:ext cx="320040" cy="0"/>
          </a:xfrm>
          <a:prstGeom prst="line">
            <a:avLst/>
          </a:prstGeom>
          <a:noFill/>
          <a:ln w="38100">
            <a:solidFill>
              <a:srgbClr val="1C191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4343400" y="3794760"/>
            <a:ext cx="3520440" cy="164592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617720" y="4023360"/>
            <a:ext cx="475488" cy="475488"/>
          </a:xfrm>
          <a:prstGeom prst="rect">
            <a:avLst/>
          </a:prstGeom>
          <a:solidFill>
            <a:srgbClr val="3B4A7A"/>
          </a:solidFill>
          <a:ln w="12700">
            <a:solidFill>
              <a:srgbClr val="3B4A7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4023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5276088" y="40507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7091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векторы · слова · граф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7927848" y="4617720"/>
            <a:ext cx="320040" cy="0"/>
          </a:xfrm>
          <a:prstGeom prst="line">
            <a:avLst/>
          </a:prstGeom>
          <a:noFill/>
          <a:ln w="38100">
            <a:solidFill>
              <a:srgbClr val="1C1917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138160" y="3794760"/>
            <a:ext cx="3520440" cy="164592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412480" y="4023360"/>
            <a:ext cx="475488" cy="475488"/>
          </a:xfrm>
          <a:prstGeom prst="rect">
            <a:avLst/>
          </a:prstGeom>
          <a:solidFill>
            <a:srgbClr val="3B4A7A"/>
          </a:solidFill>
          <a:ln w="12700">
            <a:solidFill>
              <a:srgbClr val="3B4A7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12480" y="4023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7" name="Text 34"/>
          <p:cNvSpPr txBox="1"/>
          <p:nvPr/>
        </p:nvSpPr>
        <p:spPr>
          <a:xfrm>
            <a:off x="9070848" y="40507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8412480" y="47091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гибридный, со ссылками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48640" y="603504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Шаги идут по номерам: верхний ряд — с первого по третий, нижний — с четвёртого по шестой. Всё считается на одной машине; наружу система выходит только за самими статьями.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B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берутся статьи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3520440" cy="228600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2029968"/>
            <a:ext cx="457200" cy="128016"/>
          </a:xfrm>
          <a:prstGeom prst="rect">
            <a:avLst/>
          </a:prstGeom>
          <a:solidFill>
            <a:srgbClr val="1F5F5D"/>
          </a:solidFill>
          <a:ln w="12700">
            <a:solidFill>
              <a:srgbClr val="1F5F5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2860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OpenAlex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529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ts val="2100"/>
              </a:lnSpc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Открытый каталог научных работ, свыше 250 млн записей. Индексирует и русскую периодику с DOI.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343400" y="1783080"/>
            <a:ext cx="3520440" cy="228600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17720" y="2029968"/>
            <a:ext cx="457200" cy="128016"/>
          </a:xfrm>
          <a:prstGeom prst="rect">
            <a:avLst/>
          </a:prstGeom>
          <a:solidFill>
            <a:srgbClr val="1F5F5D"/>
          </a:solidFill>
          <a:ln w="12700">
            <a:solidFill>
              <a:srgbClr val="1F5F5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17720" y="22860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Crossref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28529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ts val="2100"/>
              </a:lnSpc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Регистратор DOI: метаданные всех статей, у которых DOI вообще есть.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38160" y="1783080"/>
            <a:ext cx="3520440" cy="228600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412480" y="2029968"/>
            <a:ext cx="457200" cy="128016"/>
          </a:xfrm>
          <a:prstGeom prst="rect">
            <a:avLst/>
          </a:prstGeom>
          <a:solidFill>
            <a:srgbClr val="1F5F5D"/>
          </a:solidFill>
          <a:ln w="12700">
            <a:solidFill>
              <a:srgbClr val="1F5F5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22860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MDPI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8412480" y="28529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ts val="2100"/>
              </a:lnSpc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Издательство открытого доступа. 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8640" y="4343400"/>
            <a:ext cx="5394960" cy="150876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5537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вручную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0292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ts val="2100"/>
              </a:lnSpc>
              <a:buNone/>
            </a:pPr>
            <a:r>
              <a:rPr lang="ru-RU" sz="1600" dirty="0" err="1" smtClean="0"/>
              <a:t>Пдф</a:t>
            </a:r>
            <a:r>
              <a:rPr lang="ru-RU" sz="1600" dirty="0" smtClean="0"/>
              <a:t> файлы и </a:t>
            </a:r>
            <a:r>
              <a:rPr lang="ru-RU" sz="1600" dirty="0" err="1" smtClean="0"/>
              <a:t>тд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263640" y="4343400"/>
            <a:ext cx="5394960" cy="1508760"/>
          </a:xfrm>
          <a:prstGeom prst="rect">
            <a:avLst/>
          </a:prstGeom>
          <a:solidFill>
            <a:srgbClr val="1C1917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37960" y="45537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источник — без программиста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50292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ts val="2100"/>
              </a:lnSpc>
              <a:buNone/>
            </a:pPr>
            <a:r>
              <a:rPr lang="en-US" sz="16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источников лежит в отдельном файле. Добавить сайт — это дописать адрес и карту полей ответа. Кода менять не нужно.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20624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spc="200">
                <a:solidFill>
                  <a:srgbClr val="B0432A"/>
                </a:solidFill>
                <a:latin typeface="Calibri"/>
              </a:rPr>
              <a:t>СБОР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1099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1C1917"/>
                </a:solidFill>
                <a:latin typeface="Calibri"/>
              </a:rPr>
              <a:t>Одна тема → пять запросов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991680"/>
            <a:ext cx="3520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6B635A"/>
                </a:solidFill>
                <a:latin typeface="Calibri"/>
              </a:rPr>
              <a:t>Человек пишет тему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441680"/>
            <a:ext cx="3520440" cy="90000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3441680"/>
            <a:ext cx="306324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1C1917"/>
                </a:solidFill>
                <a:latin typeface="Calibri"/>
              </a:rPr>
              <a:t>выделение рудных узлов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1680"/>
            <a:ext cx="35204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6B635A"/>
                </a:solidFill>
                <a:latin typeface="Calibri"/>
              </a:rPr>
              <a:t>одна строка, один раз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72768"/>
            <a:ext cx="6172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>
                <a:solidFill>
                  <a:srgbClr val="6B635A"/>
                </a:solidFill>
                <a:latin typeface="Calibri"/>
              </a:rPr>
              <a:t>Qwen3-14B составляет запросы сама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3891680"/>
            <a:ext cx="630920" cy="0"/>
          </a:xfrm>
          <a:prstGeom prst="line">
            <a:avLst/>
          </a:prstGeom>
          <a:ln w="38100">
            <a:solidFill>
              <a:srgbClr val="1C19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0000" y="2321680"/>
            <a:ext cx="0" cy="3140000"/>
          </a:xfrm>
          <a:prstGeom prst="line">
            <a:avLst/>
          </a:prstGeom>
          <a:ln w="31750">
            <a:solidFill>
              <a:srgbClr val="1C19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00000" y="2321680"/>
            <a:ext cx="786400" cy="0"/>
          </a:xfrm>
          <a:prstGeom prst="line">
            <a:avLst/>
          </a:prstGeom>
          <a:ln w="38100">
            <a:solidFill>
              <a:srgbClr val="1C191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486400" y="2011680"/>
            <a:ext cx="6172200" cy="620000"/>
          </a:xfrm>
          <a:prstGeom prst="rect">
            <a:avLst/>
          </a:prstGeom>
          <a:solidFill>
            <a:srgbClr val="1C1917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15000" y="2011680"/>
            <a:ext cx="400000" cy="6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B0432A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400" y="2011680"/>
            <a:ext cx="5192200" cy="6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F1EDE6"/>
                </a:solidFill>
                <a:latin typeface="Courier New"/>
              </a:rPr>
              <a:t>delineation "ore cluster"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00000" y="3106680"/>
            <a:ext cx="786400" cy="0"/>
          </a:xfrm>
          <a:prstGeom prst="line">
            <a:avLst/>
          </a:prstGeom>
          <a:ln w="38100">
            <a:solidFill>
              <a:srgbClr val="1C191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486400" y="2796680"/>
            <a:ext cx="6172200" cy="620000"/>
          </a:xfrm>
          <a:prstGeom prst="rect">
            <a:avLst/>
          </a:prstGeom>
          <a:solidFill>
            <a:srgbClr val="1C1917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15000" y="2796680"/>
            <a:ext cx="400000" cy="6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B0432A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400" y="2796680"/>
            <a:ext cx="5192200" cy="6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F1EDE6"/>
                </a:solidFill>
                <a:latin typeface="Courier New"/>
              </a:rPr>
              <a:t>prospectivity "ore cluster" mapping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00000" y="3891680"/>
            <a:ext cx="786400" cy="0"/>
          </a:xfrm>
          <a:prstGeom prst="line">
            <a:avLst/>
          </a:prstGeom>
          <a:ln w="38100">
            <a:solidFill>
              <a:srgbClr val="1C191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486400" y="3581680"/>
            <a:ext cx="6172200" cy="620000"/>
          </a:xfrm>
          <a:prstGeom prst="rect">
            <a:avLst/>
          </a:prstGeom>
          <a:solidFill>
            <a:srgbClr val="1C1917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15000" y="3581680"/>
            <a:ext cx="400000" cy="6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B0432A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400" y="3581680"/>
            <a:ext cx="5192200" cy="6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F1EDE6"/>
                </a:solidFill>
                <a:latin typeface="Courier New"/>
              </a:rPr>
              <a:t>"ore cluster" metallogenic zoning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00000" y="4676680"/>
            <a:ext cx="786400" cy="0"/>
          </a:xfrm>
          <a:prstGeom prst="line">
            <a:avLst/>
          </a:prstGeom>
          <a:ln w="38100">
            <a:solidFill>
              <a:srgbClr val="1C191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5486400" y="4366680"/>
            <a:ext cx="6172200" cy="620000"/>
          </a:xfrm>
          <a:prstGeom prst="rect">
            <a:avLst/>
          </a:prstGeom>
          <a:solidFill>
            <a:srgbClr val="1C1917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15000" y="4366680"/>
            <a:ext cx="400000" cy="6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B0432A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400" y="4366680"/>
            <a:ext cx="5192200" cy="6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F1EDE6"/>
                </a:solidFill>
                <a:latin typeface="Courier New"/>
              </a:rPr>
              <a:t>lineament density ore prediction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700000" y="5461680"/>
            <a:ext cx="786400" cy="0"/>
          </a:xfrm>
          <a:prstGeom prst="line">
            <a:avLst/>
          </a:prstGeom>
          <a:ln w="38100">
            <a:solidFill>
              <a:srgbClr val="1C191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486400" y="5151680"/>
            <a:ext cx="6172200" cy="620000"/>
          </a:xfrm>
          <a:prstGeom prst="rect">
            <a:avLst/>
          </a:prstGeom>
          <a:solidFill>
            <a:srgbClr val="1C1917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715000" y="5151680"/>
            <a:ext cx="400000" cy="6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B0432A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400" y="5151680"/>
            <a:ext cx="5192200" cy="6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F1EDE6"/>
                </a:solidFill>
                <a:latin typeface="Courier New"/>
              </a:rPr>
              <a:t>рудный узел выделение критерии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035040"/>
            <a:ext cx="11109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635A"/>
                </a:solidFill>
                <a:latin typeface="Calibri"/>
              </a:rPr>
              <a:t>Тему человек пишет один раз. Кавычки, перевод и синонимы модель добавляет сама — без них «ore cluster» приводил статьи про звёздные скопления в Орионе.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B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Чанкинг: статья → фрагменты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286000" cy="2103120"/>
          </a:xfrm>
          <a:prstGeom prst="rect">
            <a:avLst/>
          </a:prstGeom>
          <a:solidFill>
            <a:srgbClr val="1C1917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2423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Статья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PDF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2971800" y="2880360"/>
            <a:ext cx="548640" cy="0"/>
          </a:xfrm>
          <a:prstGeom prst="line">
            <a:avLst/>
          </a:prstGeom>
          <a:noFill/>
          <a:ln w="38100">
            <a:solidFill>
              <a:srgbClr val="1C1917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657600" y="1783080"/>
            <a:ext cx="3566160" cy="658368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13632" y="191109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 исследования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657600" y="2651760"/>
            <a:ext cx="3566160" cy="658368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13632" y="277977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признака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657600" y="3520440"/>
            <a:ext cx="3566160" cy="658368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913632" y="364845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3657600" y="4389120"/>
            <a:ext cx="3566160" cy="658368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3632" y="4517136"/>
            <a:ext cx="3108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680960" y="1783080"/>
            <a:ext cx="3977640" cy="169164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55280" y="1947672"/>
            <a:ext cx="342900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1C19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512 токенов
N / L — число кусков
</a:t>
            </a:r>
            <a:r>
              <a:rPr lang="en-US" sz="1900" b="1" dirty="0">
                <a:solidFill>
                  <a:srgbClr val="B0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факт: 9–30 на статью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37490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 токенах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680960" y="420624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ts val="2100"/>
              </a:lnSpc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тем же токенайзером, что и модель эмбеддинга. Он кодирует русский вдвое экономнее английских — счёт по символам ошибся бы в разы.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03504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Режем по границам разделов — фрагмент не рвёт мысль посередине. Поэтому перекрытие не нужно.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B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Эмбеддинг: фрагмент → точка смысла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6446520" cy="374904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34440" y="3154680"/>
            <a:ext cx="201168" cy="201168"/>
          </a:xfrm>
          <a:prstGeom prst="ellipse">
            <a:avLst/>
          </a:prstGeom>
          <a:solidFill>
            <a:srgbClr val="B0432A"/>
          </a:solidFill>
          <a:ln w="12700">
            <a:solidFill>
              <a:srgbClr val="B0432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527048" y="302666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«зона окварцевания»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697480" y="3886200"/>
            <a:ext cx="182880" cy="182880"/>
          </a:xfrm>
          <a:prstGeom prst="ellipse">
            <a:avLst/>
          </a:prstGeom>
          <a:solidFill>
            <a:srgbClr val="B0432A"/>
          </a:solidFill>
          <a:ln w="12700">
            <a:solidFill>
              <a:srgbClr val="B0432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90088" y="375818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«кварцевые прожилки»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34840" y="2148840"/>
            <a:ext cx="164592" cy="164592"/>
          </a:xfrm>
          <a:prstGeom prst="ellipse">
            <a:avLst/>
          </a:prstGeom>
          <a:solidFill>
            <a:srgbClr val="6B635A"/>
          </a:solidFill>
          <a:ln w="12700">
            <a:solidFill>
              <a:srgbClr val="6B63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27448" y="202082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«граница гари»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977640" y="4709160"/>
            <a:ext cx="146304" cy="146304"/>
          </a:xfrm>
          <a:prstGeom prst="ellipse">
            <a:avLst/>
          </a:prstGeom>
          <a:solidFill>
            <a:srgbClr val="6B635A"/>
          </a:solidFill>
          <a:ln w="12700">
            <a:solidFill>
              <a:srgbClr val="6B635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270248" y="458114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«плотность линеаментов»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344168" y="3264408"/>
            <a:ext cx="1444752" cy="713232"/>
          </a:xfrm>
          <a:prstGeom prst="line">
            <a:avLst/>
          </a:prstGeom>
          <a:noFill/>
          <a:ln w="38100">
            <a:solidFill>
              <a:srgbClr val="B0432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71600" y="4160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рядом по смыслу,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B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хотя слова разные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223760" y="1783080"/>
            <a:ext cx="4434840" cy="146304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98080" y="1947672"/>
            <a:ext cx="388620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1C19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cos(a, b) = Σ a</a:t>
            </a:r>
            <a:r>
              <a:rPr lang="en-US" sz="1300" dirty="0">
                <a:solidFill>
                  <a:srgbClr val="1C19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900" dirty="0">
                <a:solidFill>
                  <a:srgbClr val="1C19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1300" dirty="0">
                <a:solidFill>
                  <a:srgbClr val="1C19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
</a:t>
            </a:r>
            <a:r>
              <a:rPr lang="en-US" sz="1900" dirty="0">
                <a:solidFill>
                  <a:srgbClr val="1C19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∈ ℝ</a:t>
            </a:r>
            <a:r>
              <a:rPr lang="en-US" sz="1300" dirty="0">
                <a:solidFill>
                  <a:srgbClr val="1C19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1024</a:t>
            </a:r>
            <a:r>
              <a:rPr lang="en-US" sz="1900" dirty="0">
                <a:solidFill>
                  <a:srgbClr val="1C19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 ‖v‖ = 1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7223760" y="3429000"/>
            <a:ext cx="4434840" cy="210312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98080" y="36576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Шкала на нашем корпусе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411480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800"/>
              </a:lnSpc>
              <a:buNone/>
            </a:pPr>
            <a:r>
              <a:rPr lang="en-US" sz="1700" b="1" dirty="0">
                <a:solidFill>
                  <a:srgbClr val="B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выше 0,6</a:t>
            </a:r>
            <a:r>
              <a:rPr lang="en-US" sz="17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текст про то же самое
</a:t>
            </a:r>
            <a:r>
              <a:rPr lang="en-US" sz="1700" b="1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 – 0,45</a:t>
            </a:r>
            <a:r>
              <a:rPr lang="en-US" sz="17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случайный сосед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03504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Русский и английский лежат в одном пространстве смыслов: русский запрос находит англоязычную статью без перевода.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B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поиска вместо одного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5394960" cy="182880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0299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смыслу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ts val="2100"/>
              </a:lnSpc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нужное, даже если слова совсем другие. Но теряет точные строки: «Анабарский щит», номер листа.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63640" y="1783080"/>
            <a:ext cx="5394960" cy="182880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37960" y="20299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B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словам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25603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lnSpc>
                <a:spcPts val="2100"/>
              </a:lnSpc>
              <a:buNone/>
            </a:pPr>
            <a:r>
              <a:rPr lang="en-US" sz="16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точные названия и номера. Русский словарь снимает окончания: «рудного узла» ищется по «рудный узел». Смысла не понимает.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246120" y="3611880"/>
            <a:ext cx="0" cy="411480"/>
          </a:xfrm>
          <a:prstGeom prst="line">
            <a:avLst/>
          </a:prstGeom>
          <a:noFill/>
          <a:ln w="38100">
            <a:solidFill>
              <a:srgbClr val="1C191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961120" y="3611880"/>
            <a:ext cx="0" cy="411480"/>
          </a:xfrm>
          <a:prstGeom prst="line">
            <a:avLst/>
          </a:prstGeom>
          <a:noFill/>
          <a:ln w="38100">
            <a:solidFill>
              <a:srgbClr val="1C191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46120" y="4023360"/>
            <a:ext cx="5715000" cy="0"/>
          </a:xfrm>
          <a:prstGeom prst="line">
            <a:avLst/>
          </a:prstGeom>
          <a:noFill/>
          <a:ln w="38100">
            <a:solidFill>
              <a:srgbClr val="1C191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99048" y="4023360"/>
            <a:ext cx="0" cy="320040"/>
          </a:xfrm>
          <a:prstGeom prst="line">
            <a:avLst/>
          </a:prstGeom>
          <a:noFill/>
          <a:ln w="38100">
            <a:solidFill>
              <a:srgbClr val="1C1917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48640" y="4434840"/>
            <a:ext cx="11109960" cy="132588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599432"/>
            <a:ext cx="105613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1C19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score(d) = Σ 1 / (k + rank</a:t>
            </a:r>
            <a:r>
              <a:rPr lang="en-US" sz="1300" dirty="0">
                <a:solidFill>
                  <a:srgbClr val="1C19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900" dirty="0">
                <a:solidFill>
                  <a:srgbClr val="1C19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(d)),   k = 60
</a:t>
            </a:r>
            <a:r>
              <a:rPr lang="en-US" sz="1900" b="1" dirty="0">
                <a:solidFill>
                  <a:srgbClr val="B043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1-е по смыслу + 3-е по словам = 1/61 + 1/63 = 0,0323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03504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Складывать сами оценки нельзя — косинус и текстовый ранг несопоставимы. А места в списках сопоставимы всегда.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20624"/>
            <a:ext cx="11109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spc="200">
                <a:solidFill>
                  <a:srgbClr val="B0432A"/>
                </a:solidFill>
                <a:latin typeface="Calibri"/>
              </a:rPr>
              <a:t>ЗНАНИЯ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1099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1C1917"/>
                </a:solidFill>
                <a:latin typeface="Calibri"/>
              </a:rPr>
              <a:t>Связи: от статей к методам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90000"/>
            <a:ext cx="2900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6B635A"/>
                </a:solidFill>
                <a:latin typeface="Calibri"/>
              </a:rPr>
              <a:t>Три разные статьи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00000" y="1990000"/>
            <a:ext cx="2958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6B635A"/>
                </a:solidFill>
                <a:latin typeface="Calibri"/>
              </a:rPr>
              <a:t>Методы из этих статей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0000"/>
            <a:ext cx="2900000" cy="82000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4380" y="2570000"/>
            <a:ext cx="248852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C1917"/>
                </a:solidFill>
                <a:latin typeface="Calibri"/>
              </a:rPr>
              <a:t>Металлогения Анабарского щита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" y="3030000"/>
            <a:ext cx="248852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35A"/>
                </a:solidFill>
                <a:latin typeface="Calibri"/>
              </a:rPr>
              <a:t>статья 2012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40000"/>
            <a:ext cx="2900000" cy="82000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4380" y="3550000"/>
            <a:ext cx="248852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C1917"/>
                </a:solidFill>
                <a:latin typeface="Calibri"/>
              </a:rPr>
              <a:t>Линеаменты и рудные узлы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4010000"/>
            <a:ext cx="248852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35A"/>
                </a:solidFill>
                <a:latin typeface="Calibri"/>
              </a:rPr>
              <a:t>статья 2018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20000"/>
            <a:ext cx="2900000" cy="82000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4380" y="4530000"/>
            <a:ext cx="248852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C1917"/>
                </a:solidFill>
                <a:latin typeface="Calibri"/>
              </a:rPr>
              <a:t>Прогноз по снимкам ASTER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" y="4990000"/>
            <a:ext cx="248852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35A"/>
                </a:solidFill>
                <a:latin typeface="Calibri"/>
              </a:rPr>
              <a:t>статья 2021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48640" y="2870000"/>
            <a:ext cx="551360" cy="0"/>
          </a:xfrm>
          <a:prstGeom prst="line">
            <a:avLst/>
          </a:prstGeom>
          <a:ln w="31750">
            <a:solidFill>
              <a:srgbClr val="1C19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448640" y="3850000"/>
            <a:ext cx="551360" cy="0"/>
          </a:xfrm>
          <a:prstGeom prst="line">
            <a:avLst/>
          </a:prstGeom>
          <a:ln w="31750">
            <a:solidFill>
              <a:srgbClr val="1C19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448640" y="4830000"/>
            <a:ext cx="551360" cy="0"/>
          </a:xfrm>
          <a:prstGeom prst="line">
            <a:avLst/>
          </a:prstGeom>
          <a:ln w="31750">
            <a:solidFill>
              <a:srgbClr val="1C19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000000" y="2870000"/>
            <a:ext cx="0" cy="1960000"/>
          </a:xfrm>
          <a:prstGeom prst="line">
            <a:avLst/>
          </a:prstGeom>
          <a:ln w="31750">
            <a:solidFill>
              <a:srgbClr val="1C19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00000" y="3850000"/>
            <a:ext cx="600000" cy="0"/>
          </a:xfrm>
          <a:prstGeom prst="line">
            <a:avLst/>
          </a:prstGeom>
          <a:ln w="38100">
            <a:solidFill>
              <a:srgbClr val="1C191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400000" y="2520000"/>
            <a:ext cx="125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B0432A"/>
                </a:solidFill>
                <a:latin typeface="Calibri"/>
              </a:rPr>
              <a:t>собран из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0000" y="3250000"/>
            <a:ext cx="3000000" cy="1200000"/>
          </a:xfrm>
          <a:prstGeom prst="rect">
            <a:avLst/>
          </a:prstGeom>
          <a:solidFill>
            <a:srgbClr val="1C1917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05740" y="3400000"/>
            <a:ext cx="2588520" cy="4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1EDE6"/>
                </a:solidFill>
                <a:latin typeface="Calibri"/>
              </a:rPr>
              <a:t>Датасет признаков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5740" y="3850000"/>
            <a:ext cx="258852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1EDE6"/>
                </a:solidFill>
                <a:latin typeface="Calibri"/>
              </a:rPr>
              <a:t>плотность линеаментов, разломы, аномалии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00000" y="3850000"/>
            <a:ext cx="600000" cy="0"/>
          </a:xfrm>
          <a:prstGeom prst="line">
            <a:avLst/>
          </a:prstGeom>
          <a:ln w="31750">
            <a:solidFill>
              <a:srgbClr val="1C19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200000" y="2870000"/>
            <a:ext cx="0" cy="1960000"/>
          </a:xfrm>
          <a:prstGeom prst="line">
            <a:avLst/>
          </a:prstGeom>
          <a:ln w="31750">
            <a:solidFill>
              <a:srgbClr val="1C19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500000" y="2520000"/>
            <a:ext cx="14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B0432A"/>
                </a:solidFill>
                <a:latin typeface="Calibri"/>
              </a:rPr>
              <a:t>применяются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00000" y="2870000"/>
            <a:ext cx="500000" cy="0"/>
          </a:xfrm>
          <a:prstGeom prst="line">
            <a:avLst/>
          </a:prstGeom>
          <a:ln w="38100">
            <a:solidFill>
              <a:srgbClr val="1C191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700000" y="2460000"/>
            <a:ext cx="2958600" cy="820000"/>
          </a:xfrm>
          <a:prstGeom prst="rect">
            <a:avLst/>
          </a:prstGeom>
          <a:solidFill>
            <a:srgbClr val="F1EDE6"/>
          </a:solidFill>
          <a:ln w="31750">
            <a:solidFill>
              <a:srgbClr val="1F5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05740" y="2570000"/>
            <a:ext cx="254712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F5F5D"/>
                </a:solidFill>
                <a:latin typeface="Calibri"/>
              </a:rPr>
              <a:t>Кокригинг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5740" y="3030000"/>
            <a:ext cx="254712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35A"/>
                </a:solidFill>
                <a:latin typeface="Calibri"/>
              </a:rPr>
              <a:t>из статьи 2012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00000" y="3850000"/>
            <a:ext cx="500000" cy="0"/>
          </a:xfrm>
          <a:prstGeom prst="line">
            <a:avLst/>
          </a:prstGeom>
          <a:ln w="38100">
            <a:solidFill>
              <a:srgbClr val="1C191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700000" y="3440000"/>
            <a:ext cx="2958600" cy="820000"/>
          </a:xfrm>
          <a:prstGeom prst="rect">
            <a:avLst/>
          </a:prstGeom>
          <a:solidFill>
            <a:srgbClr val="F1EDE6"/>
          </a:solidFill>
          <a:ln w="31750">
            <a:solidFill>
              <a:srgbClr val="3B4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905740" y="3550000"/>
            <a:ext cx="254712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3B4A7A"/>
                </a:solidFill>
                <a:latin typeface="Calibri"/>
              </a:rPr>
              <a:t>Линеаментный анализ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5740" y="4010000"/>
            <a:ext cx="254712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35A"/>
                </a:solidFill>
                <a:latin typeface="Calibri"/>
              </a:rPr>
              <a:t>из статьи 2018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00000" y="4830000"/>
            <a:ext cx="500000" cy="0"/>
          </a:xfrm>
          <a:prstGeom prst="line">
            <a:avLst/>
          </a:prstGeom>
          <a:ln w="38100">
            <a:solidFill>
              <a:srgbClr val="1C191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700000" y="4420000"/>
            <a:ext cx="2958600" cy="820000"/>
          </a:xfrm>
          <a:prstGeom prst="rect">
            <a:avLst/>
          </a:prstGeom>
          <a:solidFill>
            <a:srgbClr val="F1EDE6"/>
          </a:solidFill>
          <a:ln w="31750">
            <a:solidFill>
              <a:srgbClr val="B04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905740" y="4530000"/>
            <a:ext cx="2547120" cy="4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B0432A"/>
                </a:solidFill>
                <a:latin typeface="Calibri"/>
              </a:rPr>
              <a:t>Классификация по ASTER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05740" y="4990000"/>
            <a:ext cx="254712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B635A"/>
                </a:solidFill>
                <a:latin typeface="Calibri"/>
              </a:rPr>
              <a:t>из статьи 2021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00000" y="1650000"/>
            <a:ext cx="3600000" cy="620000"/>
          </a:xfrm>
          <a:prstGeom prst="rect">
            <a:avLst/>
          </a:prstGeom>
          <a:noFill/>
          <a:ln w="19050">
            <a:solidFill>
              <a:srgbClr val="6B63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50000" y="1650000"/>
            <a:ext cx="3300000" cy="6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6B635A"/>
                </a:solidFill>
                <a:latin typeface="Calibri"/>
              </a:rPr>
              <a:t>…и дальше по графу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5200000" y="2270000"/>
            <a:ext cx="0" cy="980000"/>
          </a:xfrm>
          <a:prstGeom prst="line">
            <a:avLst/>
          </a:prstGeom>
          <a:ln w="31750">
            <a:solidFill>
              <a:srgbClr val="6B63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100000" y="2270000"/>
            <a:ext cx="0" cy="980000"/>
          </a:xfrm>
          <a:prstGeom prst="line">
            <a:avLst/>
          </a:prstGeom>
          <a:ln w="31750">
            <a:solidFill>
              <a:srgbClr val="6B63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7000000" y="2270000"/>
            <a:ext cx="0" cy="980000"/>
          </a:xfrm>
          <a:prstGeom prst="line">
            <a:avLst/>
          </a:prstGeom>
          <a:ln w="31750">
            <a:solidFill>
              <a:srgbClr val="6B63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035040"/>
            <a:ext cx="11109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635A"/>
                </a:solidFill>
                <a:latin typeface="Calibri"/>
              </a:rPr>
              <a:t>Связь означает ровно одно: об этих двух написано в одной статье. Ничего не додумано — за каждой связью стоит список статей, который можно открыть.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B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за что отвечает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11109960" cy="713232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2011680"/>
            <a:ext cx="256032" cy="256032"/>
          </a:xfrm>
          <a:prstGeom prst="rect">
            <a:avLst/>
          </a:prstGeom>
          <a:solidFill>
            <a:srgbClr val="1F5F5D"/>
          </a:solidFill>
          <a:ln w="12700">
            <a:solidFill>
              <a:srgbClr val="1F5F5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88720" y="19385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Qwen3-14B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95681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Запросы из темы, отбор статей, извлечение связей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Ollama, видеокарта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624328"/>
            <a:ext cx="11109960" cy="713232"/>
          </a:xfrm>
          <a:prstGeom prst="rect">
            <a:avLst/>
          </a:prstGeom>
          <a:solidFill>
            <a:srgbClr val="FFFFFF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2852928"/>
            <a:ext cx="256032" cy="256032"/>
          </a:xfrm>
          <a:prstGeom prst="rect">
            <a:avLst/>
          </a:prstGeom>
          <a:solidFill>
            <a:srgbClr val="B0432A"/>
          </a:solidFill>
          <a:ln w="12700">
            <a:solidFill>
              <a:srgbClr val="B0432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188720" y="277977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Docling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343400" y="2798064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PDF: разделы, таблицы, номера страниц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0" y="280720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видеокарта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465576"/>
            <a:ext cx="11109960" cy="713232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3694176"/>
            <a:ext cx="256032" cy="256032"/>
          </a:xfrm>
          <a:prstGeom prst="rect">
            <a:avLst/>
          </a:prstGeom>
          <a:solidFill>
            <a:srgbClr val="B0432A"/>
          </a:solidFill>
          <a:ln w="12700">
            <a:solidFill>
              <a:srgbClr val="B0432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88720" y="362102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343400" y="363931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 текста в вектор из 1024 чисел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0" y="364845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видеокарта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4306824"/>
            <a:ext cx="11109960" cy="713232"/>
          </a:xfrm>
          <a:prstGeom prst="rect">
            <a:avLst/>
          </a:prstGeom>
          <a:solidFill>
            <a:srgbClr val="FFFFFF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77240" y="4535424"/>
            <a:ext cx="256032" cy="256032"/>
          </a:xfrm>
          <a:prstGeom prst="rect">
            <a:avLst/>
          </a:prstGeom>
          <a:solidFill>
            <a:srgbClr val="3B4A7A"/>
          </a:solidFill>
          <a:ln w="12700">
            <a:solidFill>
              <a:srgbClr val="3B4A7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88720" y="44622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4343400" y="44805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фрагментов, оба индекса, граф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9144000" y="448970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Docker, локально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5148072"/>
            <a:ext cx="11109960" cy="713232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5376672"/>
            <a:ext cx="256032" cy="256032"/>
          </a:xfrm>
          <a:prstGeom prst="rect">
            <a:avLst/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88720" y="53035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4343400" y="5321808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Объединение двух поисков в одну выдачу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9144000" y="533095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код, без модели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603504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работает на одной машине. Данные не покидают периметр.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B0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68096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C19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Насколько базе знаний можно верить</a:t>
            </a:r>
            <a:endParaRPr lang="en-US" sz="4000" dirty="0"/>
          </a:p>
        </p:txBody>
      </p:sp>
      <p:sp>
        <p:nvSpPr>
          <p:cNvPr id="39" name="Text 36"/>
          <p:cNvSpPr txBox="1"/>
          <p:nvPr/>
        </p:nvSpPr>
        <p:spPr>
          <a:xfrm>
            <a:off x="548640" y="603504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6B6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Ручная проверка по исходным текстам: 100 фактов независимой выборки, 65 фрагментов против PDF; оценка чат-бота на 29 вопросах. Погрешность ±7–10%.</a:t>
            </a:r>
            <a:endParaRPr lang="en-US" sz="1400" dirty="0"/>
          </a:p>
        </p:txBody>
      </p:sp>
      <p:sp>
        <p:nvSpPr>
          <p:cNvPr id="40" name="Rectangle 39"/>
          <p:cNvSpPr/>
          <p:nvPr/>
        </p:nvSpPr>
        <p:spPr>
          <a:xfrm>
            <a:off x="548640" y="1783080"/>
            <a:ext cx="3520440" cy="283464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777240" y="2011680"/>
            <a:ext cx="457200" cy="91440"/>
          </a:xfrm>
          <a:prstGeom prst="rect">
            <a:avLst/>
          </a:prstGeom>
          <a:solidFill>
            <a:srgbClr val="1F5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7240" y="21945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6B635A"/>
                </a:solidFill>
                <a:latin typeface="Calibri"/>
              </a:rPr>
              <a:t>Ответы чат-бота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2560320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1F5F5D"/>
                </a:solidFill>
                <a:latin typeface="Calibri"/>
              </a:rPr>
              <a:t>19 из 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3291840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C1917"/>
                </a:solidFill>
                <a:latin typeface="Calibri"/>
              </a:rPr>
              <a:t>вопросов по темам статей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3794760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635A"/>
                </a:solidFill>
                <a:latin typeface="Calibri"/>
              </a:rPr>
              <a:t>95% утверждений со ссылкой на фрагмент</a:t>
            </a:r>
          </a:p>
          <a:p>
            <a:pPr algn="l"/>
            <a:r>
              <a:rPr sz="1300" b="0">
                <a:solidFill>
                  <a:srgbClr val="6B635A"/>
                </a:solidFill>
                <a:latin typeface="Calibri"/>
              </a:rPr>
              <a:t>фразы без ссылки убираются из ответа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43400" y="1783080"/>
            <a:ext cx="3520440" cy="283464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572000" y="2011680"/>
            <a:ext cx="457200" cy="91440"/>
          </a:xfrm>
          <a:prstGeom prst="rect">
            <a:avLst/>
          </a:prstGeom>
          <a:solidFill>
            <a:srgbClr val="B04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0" y="21945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6B635A"/>
                </a:solidFill>
                <a:latin typeface="Calibri"/>
              </a:rPr>
              <a:t>Факты графа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0" y="2560320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B0432A"/>
                </a:solidFill>
                <a:latin typeface="Calibri"/>
              </a:rPr>
              <a:t>87%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3291840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C1917"/>
                </a:solidFill>
                <a:latin typeface="Calibri"/>
              </a:rPr>
              <a:t>фактов верны по смыслу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3794760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6B635A"/>
                </a:solidFill>
                <a:latin typeface="Calibri"/>
              </a:rPr>
              <a:t>было</a:t>
            </a:r>
            <a:r>
              <a:rPr sz="1300" b="0" dirty="0">
                <a:solidFill>
                  <a:srgbClr val="6B635A"/>
                </a:solidFill>
                <a:latin typeface="Calibri"/>
              </a:rPr>
              <a:t> 73%: </a:t>
            </a:r>
            <a:r>
              <a:rPr sz="1300" b="0" dirty="0" err="1">
                <a:solidFill>
                  <a:srgbClr val="6B635A"/>
                </a:solidFill>
                <a:latin typeface="Calibri"/>
              </a:rPr>
              <a:t>каждый</a:t>
            </a:r>
            <a:r>
              <a:rPr sz="1300" b="0" dirty="0">
                <a:solidFill>
                  <a:srgbClr val="6B635A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B635A"/>
                </a:solidFill>
                <a:latin typeface="Calibri"/>
              </a:rPr>
              <a:t>факт</a:t>
            </a:r>
            <a:r>
              <a:rPr sz="1300" b="0" dirty="0">
                <a:solidFill>
                  <a:srgbClr val="6B635A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B635A"/>
                </a:solidFill>
                <a:latin typeface="Calibri"/>
              </a:rPr>
              <a:t>проверен</a:t>
            </a:r>
            <a:endParaRPr sz="1300" b="0" dirty="0">
              <a:solidFill>
                <a:srgbClr val="6B635A"/>
              </a:solidFill>
              <a:latin typeface="Calibri"/>
            </a:endParaRPr>
          </a:p>
          <a:p>
            <a:pPr algn="l"/>
            <a:r>
              <a:rPr sz="1300" b="0" dirty="0" err="1">
                <a:solidFill>
                  <a:srgbClr val="6B635A"/>
                </a:solidFill>
                <a:latin typeface="Calibri"/>
              </a:rPr>
              <a:t>четырьмя</a:t>
            </a:r>
            <a:r>
              <a:rPr sz="1300" b="0" dirty="0">
                <a:solidFill>
                  <a:srgbClr val="6B635A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B635A"/>
                </a:solidFill>
                <a:latin typeface="Calibri"/>
              </a:rPr>
              <a:t>вопросами</a:t>
            </a:r>
            <a:r>
              <a:rPr sz="1300" b="0" dirty="0">
                <a:solidFill>
                  <a:srgbClr val="6B635A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B635A"/>
                </a:solidFill>
                <a:latin typeface="Calibri"/>
              </a:rPr>
              <a:t>по</a:t>
            </a:r>
            <a:r>
              <a:rPr sz="1300" b="0" dirty="0">
                <a:solidFill>
                  <a:srgbClr val="6B635A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6B635A"/>
                </a:solidFill>
                <a:latin typeface="Calibri"/>
              </a:rPr>
              <a:t>цитате</a:t>
            </a:r>
            <a:endParaRPr sz="1300" b="0" dirty="0">
              <a:solidFill>
                <a:srgbClr val="6B635A"/>
              </a:solidFill>
              <a:latin typeface="Calibri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8138160" y="1783080"/>
            <a:ext cx="3520440" cy="2834640"/>
          </a:xfrm>
          <a:prstGeom prst="rect">
            <a:avLst/>
          </a:prstGeom>
          <a:solidFill>
            <a:srgbClr val="F1EDE6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366760" y="2011680"/>
            <a:ext cx="457200" cy="91440"/>
          </a:xfrm>
          <a:prstGeom prst="rect">
            <a:avLst/>
          </a:prstGeom>
          <a:solidFill>
            <a:srgbClr val="3B4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366760" y="2194560"/>
            <a:ext cx="3063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6B635A"/>
                </a:solidFill>
                <a:latin typeface="Calibri"/>
              </a:rPr>
              <a:t>Разбор PDF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66760" y="2560320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>
                <a:solidFill>
                  <a:srgbClr val="3B4A7A"/>
                </a:solidFill>
                <a:latin typeface="Calibri"/>
              </a:rPr>
              <a:t>65 из 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66760" y="3291840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C1917"/>
                </a:solidFill>
                <a:latin typeface="Calibri"/>
              </a:rPr>
              <a:t>номеров страниц указаны верно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794760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B635A"/>
                </a:solidFill>
                <a:latin typeface="Calibri"/>
              </a:rPr>
              <a:t>90% фрагментов — чистый текст статьи</a:t>
            </a:r>
          </a:p>
          <a:p>
            <a:pPr algn="l"/>
            <a:r>
              <a:rPr sz="1300" b="0">
                <a:solidFill>
                  <a:srgbClr val="6B635A"/>
                </a:solidFill>
                <a:latin typeface="Calibri"/>
              </a:rPr>
              <a:t>(было 72%: колонтитулы, служебное)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4892040"/>
            <a:ext cx="11109960" cy="868680"/>
          </a:xfrm>
          <a:prstGeom prst="rect">
            <a:avLst/>
          </a:prstGeom>
          <a:solidFill>
            <a:srgbClr val="1C1917"/>
          </a:solidFill>
          <a:ln w="31750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68680" y="5029200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Утверждения ответов и факты графа ведут к статье и странице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" y="5372100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9C2B6"/>
                </a:solidFill>
                <a:latin typeface="Calibri"/>
              </a:rPr>
              <a:t>по Анабару статей пока нет — бот честно отвечает «в базе нет», а не подставляет чужие районы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E0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ПРОГНОЗА ОРУДЕНЕНИЯ · АНАБАРСКИЙ ЩИТ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60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</a:t>
            </a:r>
            <a:r>
              <a:rPr lang="en-US" sz="60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аза</a:t>
            </a:r>
            <a:r>
              <a:rPr lang="en-US" sz="60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знаний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устроена система, которая сама ищет, разбирает и связывает геологические знания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2377440" cy="73152"/>
          </a:xfrm>
          <a:prstGeom prst="rect">
            <a:avLst/>
          </a:prstGeom>
          <a:solidFill>
            <a:srgbClr val="B0432A"/>
          </a:solidFill>
          <a:ln w="12700">
            <a:solidFill>
              <a:srgbClr val="B0432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990945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2208</Words>
  <Application>Microsoft Office PowerPoint</Application>
  <PresentationFormat>Широкоэкранный</PresentationFormat>
  <Paragraphs>218</Paragraphs>
  <Slides>12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6" baseType="lpstr">
      <vt:lpstr>Arial</vt:lpstr>
      <vt:lpstr>Calibri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ГеоRAG — модель и база знаний</dc:title>
  <dc:subject>PptxGenJS Presentation</dc:subject>
  <dc:creator>ГеоRAG</dc:creator>
  <cp:lastModifiedBy>Janfik</cp:lastModifiedBy>
  <cp:revision>8</cp:revision>
  <dcterms:created xsi:type="dcterms:W3CDTF">2026-09-15T17:53:32Z</dcterms:created>
  <dcterms:modified xsi:type="dcterms:W3CDTF">2026-10-06T09:28:15Z</dcterms:modified>
</cp:coreProperties>
</file>