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1" r:id="rId5"/>
    <p:sldId id="262" r:id="rId6"/>
    <p:sldId id="263" r:id="rId7"/>
    <p:sldId id="281" r:id="rId8"/>
    <p:sldId id="264" r:id="rId9"/>
    <p:sldId id="265" r:id="rId10"/>
    <p:sldId id="282" r:id="rId11"/>
    <p:sldId id="266" r:id="rId12"/>
    <p:sldId id="283" r:id="rId13"/>
    <p:sldId id="284" r:id="rId14"/>
    <p:sldId id="267" r:id="rId15"/>
    <p:sldId id="286" r:id="rId16"/>
    <p:sldId id="280" r:id="rId17"/>
    <p:sldId id="26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890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Доклад про базу знаний для прогноза оруденения на Анабарском щите.</a:t>
            </a:r>
          </a:p>
          <a:p>
            <a:r>
              <a:t>Сначала коротко, что это. Система из двух частей. Первая — языковая модель: её задача сопоставить данные о нашей территории с тем, что известно о похожих месторождениях. Но чтобы сопоставлять, надо откуда-то брать это «известно» — поэтому модель сама ищет литературу, разбирает её и складывает в базу. Вторая часть — сама база: не свалка PDF, а литература, разложенная на смысловые фрагменты, и у каждого записано, из какой статьи и с какой страницы он взят.</a:t>
            </a:r>
          </a:p>
          <a:p>
            <a:r>
              <a:t>Дальше — зачем это нужно, как устроено и что уже сделано. Минут семь.</a:t>
            </a:r>
          </a:p>
          <a:p>
            <a:r>
              <a:t>Держать в голове: говорить по факту. Где не доделано — сказать прямо, не обещать.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Сразу отвечу на вопрос «зачем».</a:t>
            </a:r>
          </a:p>
          <a:p>
            <a:r>
              <a:t>База знаний — не конечный продукт, а сырьё. Из неё собирается датасет: признаки, по которым выделяют рудные узлы, пороговые значения, методы, эталонные примеры. Всё это выписано из литературы, а не придумано.</a:t>
            </a:r>
          </a:p>
          <a:p>
            <a:r>
              <a:t>И уже датасет применяется к нашей территории — Анабарскому щиту.</a:t>
            </a:r>
          </a:p>
          <a:p>
            <a:r>
              <a:t>То есть цепочка из трёх звеньев, и база — только первое. Сама по себе она ничего не прогнозирует.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Весь путь целиком, шесть шагов.</a:t>
            </a:r>
          </a:p>
          <a:p>
            <a:r>
              <a:t>Первое — источники: три научных каталога, откуда берутся статьи. Второе — отбор: по теме статья или мимо. Третье — разбор PDF: достаём текст, разделы, таблицы и номера страниц. Четвёртое — режем на фрагменты. Пятое — кладём в базу. Шестое — поиск.</a:t>
            </a:r>
          </a:p>
          <a:p>
            <a:r>
              <a:t>Если назвать формально, что получилось: гибридная база знаний документного типа. Гибридная — потому что три способа доступа к одним и тем же фрагментам: по смыслу, по точным словам и по связям. Документного типа — потому что хранятся не факты, а фрагменты статей, и любое утверждение прослеживается до страницы источника. И это не онтология: схема понятий заранее не задана, граф строится поверх текстов.</a:t>
            </a:r>
          </a:p>
          <a:p>
            <a:r>
              <a:t>Всё крутится на одной машине. Наружу система выходит только за самими статьями: ни запросы, ни тексты никуда не передаются.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Подключены три источника.</a:t>
            </a:r>
          </a:p>
          <a:p>
            <a:r>
              <a:t>OpenAlex — открытый каталог научных работ, больше двухсот пятидесяти миллионов записей, индексирует и русскую периодику с DOI. Crossref — регистратор DOI: метаданные всех статей, у которых DOI вообще есть. MDPI — издательство открытого доступа; собственный поиск у него закрыт, поэтому идём через Crossref по коду издателя.</a:t>
            </a:r>
          </a:p>
          <a:p>
            <a:r>
              <a:t>Скажу прямо: eLibrary, Lens и КиберЛенинка автоматике не отдаются — где-то нет API, где-то проверка на робота. А основная русская литература по Анабару живёт именно там. Эту часть заносим руками: кладём PDF, и дальше он проходит ровно тот же путь, что и скачанный автоматически.</a:t>
            </a:r>
          </a:p>
          <a:p>
            <a:r>
              <a:t>Зато добавить новый источник может любой: список в отдельном файле, дописать адрес и соответствие полей. Программист не нужен.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Человек пишет одну строку обычными словами — «выделение рудных узлов». Дальше он в поиск не вмешивается.</a:t>
            </a:r>
          </a:p>
          <a:p>
            <a:r>
              <a:t>Эту строку получает Qwen3-14B и раскладывает на пять запросов: английские, русские, с синонимами. Одни и те же работы в разных каталогах ищутся по-разному, поэтому одного запроса мало.</a:t>
            </a:r>
          </a:p>
          <a:p>
            <a:r>
              <a:t>Две детали, которые мы получили на живых прогонах. Кавычки обязательны: без них «ore cluster» искалось по словам отдельно и приводило статьи про звёздные скопления в Орионе. И географические названия нельзя терять при переводе — сначала «Анабарский щит металлогения» превращалось просто в shield metallogeny, и мы получали щиты всего мира вместо своего.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Статья не хранится и не ищется целиком. Она режется на фрагменты по границам разделов: методика отдельно, признаки отдельно, результаты отдельно.</a:t>
            </a:r>
          </a:p>
          <a:p>
            <a:r>
              <a:t>Размер — пятьсот двенадцать токенов. По факту выходит от девяти до тридцати фрагментов на статью.</a:t>
            </a:r>
          </a:p>
          <a:p>
            <a:r>
              <a:t>Считаем в токенах, и тем же токенайзером, которым пользуется модель. Он кодирует русский вдвое экономнее английского — счёт по символам ошибся бы в разы.</a:t>
            </a:r>
          </a:p>
          <a:p>
            <a:r>
              <a:t>Смысл в том, что поиск находит не «статью, где что-то похожее», а конкретный абзац, отвечающий на вопрос.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Каждый фрагмент превращается в вектор — тысяча двадцать четыре числа. Это координаты точки в пространстве смыслов.</a:t>
            </a:r>
          </a:p>
          <a:p>
            <a:r>
              <a:t>Близость двух фрагментов — косинус угла между векторами. Векторы нормированы, поэтому косинус сводится к обычному скалярному произведению.</a:t>
            </a:r>
          </a:p>
          <a:p>
            <a:r>
              <a:t>На нашем корпусе шкала такая: выше шести десятых — текст действительно про то же самое; три–четыре десятых — случайный сосед.</a:t>
            </a:r>
          </a:p>
          <a:p>
            <a:r>
              <a:t>Это важно, потому что векторный поиск находит что-нибудь всегда, даже когда подходящего в базе нет. Поэтому стоит порог отсечения.</a:t>
            </a:r>
          </a:p>
          <a:p>
            <a:r>
              <a:t>И модель многоязычная: русский и английский в одном пространстве, поэтому русский запрос находит англоязычную статью без перевода.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Одного способа мало.</a:t>
            </a:r>
          </a:p>
          <a:p>
            <a:r>
              <a:t>Поиск по смыслу находит нужное, даже если слова совсем другие. Но теряет точные строки — название площади, номер листа.</a:t>
            </a:r>
          </a:p>
          <a:p>
            <a:r>
              <a:t>Поиск по словам наоборот: точные названия находит, смысла не понимает. Русский словарь снимает окончания, так что «рудного узла» ищется по «рудный узел».</a:t>
            </a:r>
          </a:p>
          <a:p>
            <a:r>
              <a:t>Работают оба, а результаты объединяются формулой RRF.</a:t>
            </a:r>
          </a:p>
          <a:p>
            <a:r>
              <a:t>Ключевая мысль: складывать сами оценки нельзя. Косинус от нуля до единицы, текстовый ранг ничем сверху не ограничен — они несопоставимы. А места в списках сопоставимы всегда. Поэтому складываем не оценки, а обратные величины от мест.</a:t>
            </a:r>
          </a:p>
          <a:p>
            <a:r>
              <a:t>Пример на слайде: фрагмент первый по смыслу и третий по словам — выходит три сотых с небольшим.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Поверх текстов строится граф. Вот как он работает на простом примере.</a:t>
            </a:r>
          </a:p>
          <a:p>
            <a:r>
              <a:t>Слева три разные статьи. Из каждой выписаны признаки, и они сходятся в один общий датасет — плотность линеаментов, разломы, аномалии. Это и есть то, ради чего собиралась база: признаки из разных работ в одном месте.</a:t>
            </a:r>
          </a:p>
          <a:p>
            <a:r>
              <a:t>Справа — методы, которыми эти признаки изучали. Каждый метод пришёл из своей статьи, и рядом написано, из какой именно. То есть по графу можно идти в обе стороны: от признака — к методам, от метода — обратно к статье.</a:t>
            </a:r>
          </a:p>
          <a:p>
            <a:r>
              <a:t>Стрелки вверх означают, что датасет связан не только с этим: к нему цепляются рудные узлы, территории, другие признаки. Граф на этом не заканчивается.</a:t>
            </a:r>
          </a:p>
          <a:p>
            <a:r>
              <a:t>И скажу точно, что означает связь: об этих двух написано в одной статье. Больше ничего. Я намеренно не делал «силу связи ноль целых семьдесят три» — такое число выглядит убедительно, а проверить его нельзя. Здесь за каждой связью стоит список статей, который можно открыть и прочитать.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Коротко, кто что делает.</a:t>
            </a:r>
          </a:p>
          <a:p>
            <a:r>
              <a:t>Qwen3-14B — языковая модель: составляет запросы, отбирает статьи, вытаскивает связи. Локально, на видеокарте.</a:t>
            </a:r>
          </a:p>
          <a:p>
            <a:r>
              <a:t>Docling — разбирает PDF.</a:t>
            </a:r>
          </a:p>
          <a:p>
            <a:r>
              <a:t>BGE-M3 — превращает текст в векторы.</a:t>
            </a:r>
          </a:p>
          <a:p>
            <a:r>
              <a:t>PostgreSQL с расширением pgvector — хранит всё: фрагменты, оба индекса и граф.</a:t>
            </a:r>
          </a:p>
          <a:p>
            <a:r>
              <a:t>RRF — объединяет два поиска; это просто формула, модели там нет.</a:t>
            </a:r>
          </a:p>
          <a:p>
            <a:r>
              <a:t>Всё на одной машине, данные не покидают периметр.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Доклад про базу знаний для прогноза оруденения на Анабарском щите.</a:t>
            </a:r>
          </a:p>
          <a:p>
            <a:r>
              <a:t>Сначала коротко, что это. Система из двух частей. Первая — языковая модель: её задача сопоставить данные о нашей территории с тем, что известно о похожих месторождениях. Но чтобы сопоставлять, надо откуда-то брать это «известно» — поэтому модель сама ищет литературу, разбирает её и складывает в базу. Вторая часть — сама база: не свалка PDF, а литература, разложенная на смысловые фрагменты, и у каждого записано, из какой статьи и с какой страницы он взят.</a:t>
            </a:r>
          </a:p>
          <a:p>
            <a:r>
              <a:t>Дальше — зачем это нужно, как устроено и что уже сделано. Минут семь.</a:t>
            </a:r>
          </a:p>
          <a:p>
            <a:r>
              <a:t>Держать в голове: говорить по факту. Где не доделано — сказать прямо, не обещать.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2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ПРОГНОЗА ОРУДЕНЕНИЯ · АНАБАРСКИЙ ЩИТ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en-US" sz="6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аза</a:t>
            </a:r>
            <a:r>
              <a:rPr lang="en-US" sz="6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знаний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система, которая сама ищет, разбирает и связывает геологические знания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2377440" cy="7315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— это сырьё, а не результат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240280"/>
            <a:ext cx="457200" cy="128016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smtClean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Литература, </a:t>
            </a: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разобранная на фрагменты с ссылками на источник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33088" y="361188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4340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240280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признаков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Признаки, пороговые значения, методы и эталонные примеры, выписанные из литературы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27848" y="361188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13816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2240280"/>
            <a:ext cx="457200" cy="128016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территория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Прогнозная модель по Анабарскому щиту, построенная на этих признаках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 надо всю цепочку: сама по себе база знаний ничего не прогнозирует — она даёт материал, из которого собирается датасет.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источника до ответа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11680"/>
            <a:ext cx="475488" cy="475488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81328" y="20391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· Crossref · MDPI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33088" y="260604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43400" y="178308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2011680"/>
            <a:ext cx="475488" cy="475488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276088" y="20391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теме или мимо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927848" y="260604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138160" y="178308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2011680"/>
            <a:ext cx="475488" cy="475488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070848" y="20391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PDF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разделы, таблицы, страницы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379476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23360"/>
            <a:ext cx="475488" cy="475488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481328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Фрагменты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709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токенов, с номерами страниц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133088" y="461772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343400" y="379476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17720" y="4023360"/>
            <a:ext cx="475488" cy="475488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772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5276088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4709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 · слова · граф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927848" y="461772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138160" y="379476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12480" y="4023360"/>
            <a:ext cx="475488" cy="475488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9070848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0" y="4709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гибридный, со ссылками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идут по номерам: верхний ряд — с первого по третий, нижний — с четвёртого по шестой. Всё считается на одной машине; наружу система выходит только за самими статьями.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берутся статьи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29968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4668" y="2807208"/>
            <a:ext cx="2359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каталог научных работ, свыше 250 млн записей. Индексирует и русскую периодику с DOI.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029968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751949" y="2852928"/>
            <a:ext cx="2703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Регистратор DOI: метаданные всех статей, у которых DOI вообще есть.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38160" y="1783080"/>
            <a:ext cx="35204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2029968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28529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Издательство открытого доступа. 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343400"/>
            <a:ext cx="5394960" cy="15087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553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вручную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ru-RU" sz="1600" dirty="0" err="1" smtClean="0"/>
              <a:t>Пдф</a:t>
            </a:r>
            <a:r>
              <a:rPr lang="ru-RU" sz="1600" dirty="0" smtClean="0"/>
              <a:t> файлы и </a:t>
            </a:r>
            <a:r>
              <a:rPr lang="ru-RU" sz="1600" dirty="0" err="1" smtClean="0"/>
              <a:t>тд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63640" y="4343400"/>
            <a:ext cx="5394960" cy="150876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37960" y="4553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источник — без программиста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источников лежит в отдельном файле. Добавить сайт — это дописать адрес и карту полей ответа. Кода менять не нужно.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B0432A"/>
                </a:solidFill>
                <a:latin typeface="Calibri"/>
              </a:rPr>
              <a:t>СБОР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Calibri"/>
              </a:rPr>
              <a:t>Одна тема → пять запросов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916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6B635A"/>
                </a:solidFill>
                <a:latin typeface="Calibri"/>
              </a:rPr>
              <a:t>Человек пишет тему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441680"/>
            <a:ext cx="3520440" cy="90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441680"/>
            <a:ext cx="306324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Calibri"/>
              </a:rPr>
              <a:t>выделение рудных узлов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168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одна строка, один раз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572768"/>
            <a:ext cx="6172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6B635A"/>
                </a:solidFill>
                <a:latin typeface="Calibri"/>
              </a:rPr>
              <a:t>Qwen3-14B составляет запросы сама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3891680"/>
            <a:ext cx="630920" cy="0"/>
          </a:xfrm>
          <a:prstGeom prst="line">
            <a:avLst/>
          </a:prstGeom>
          <a:ln w="3810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0000" y="2321680"/>
            <a:ext cx="0" cy="314000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0000" y="2321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0" y="2011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2011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400" y="2011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delineation "ore cluster"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0000" y="3106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0" y="2796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0" y="2796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400" y="2796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prospectivity "ore cluster" mapping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0000" y="3891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0" y="3581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3581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400" y="3581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"ore cluster" metallogenic zoning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00000" y="4676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0" y="4366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4366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400" y="4366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lineament density ore prediction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00000" y="5461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0" y="5151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15000" y="5151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400" y="5151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рудный узел выделение критерии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35A"/>
                </a:solidFill>
                <a:latin typeface="Calibri"/>
              </a:rPr>
              <a:t>Тему человек пишет один раз. Кавычки, перевод и синонимы модель добавляет сама — без них «ore cluster» приводил статьи про звёздные скопления в Орионе.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Чанкинг: статья → фрагменты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286000" cy="210312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423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PDF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971800" y="2880360"/>
            <a:ext cx="5486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657600" y="1783080"/>
            <a:ext cx="3566160" cy="658368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13632" y="19110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исследования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0" y="2651760"/>
            <a:ext cx="3566160" cy="658368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13632" y="27797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признака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657600" y="3520440"/>
            <a:ext cx="3566160" cy="658368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13632" y="36484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657600" y="4389120"/>
            <a:ext cx="3566160" cy="658368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13632" y="4517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680960" y="1783080"/>
            <a:ext cx="3977640" cy="16916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0" y="1947672"/>
            <a:ext cx="3429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512 токенов
N / L — число кусков
</a:t>
            </a:r>
            <a:r>
              <a:rPr lang="en-US" sz="1900" b="1" dirty="0">
                <a:solidFill>
                  <a:srgbClr val="B0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факт: 9–30 на статью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3749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токенах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420624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тем же токенайзером, что и модель эмбеддинга. Он кодирует русский вдвое экономнее английских — счёт по символам ошибся бы в разы.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Режем по границам разделов — фрагмент не рвёт мысль посередине. Поэтому перекрытие не нужно.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не теряет смысл</a:t>
            </a:r>
            <a:endParaRPr lang="en-US" sz="4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длиннее страницы попадёт в два соседних фрагмента с одинаковыми заголовками — поиск находит оба. Сверка с оригиналами PDF: страницы верны у 65 фрагментов из 65.</a:t>
            </a:r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548640" y="1783080"/>
            <a:ext cx="5417820" cy="17373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2011680"/>
            <a:ext cx="457200" cy="91440"/>
          </a:xfrm>
          <a:prstGeom prst="rect">
            <a:avLst/>
          </a:prstGeom>
          <a:solidFill>
            <a:srgbClr val="1F5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2194560"/>
            <a:ext cx="48691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5F5D"/>
                </a:solidFill>
                <a:latin typeface="Calibri"/>
              </a:rPr>
              <a:t>Режем по структуре статьи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2651760"/>
            <a:ext cx="48691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 err="1">
                <a:solidFill>
                  <a:srgbClr val="1C1917"/>
                </a:solidFill>
                <a:latin typeface="Calibri"/>
              </a:rPr>
              <a:t>Docling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разбирает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PDF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на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разделы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абзацы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таблицы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.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Граница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фрагмента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—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граница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абзаца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, а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не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счётчик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символов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мысль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посередине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не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рвётся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0780" y="1783080"/>
            <a:ext cx="5417820" cy="17373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15100" y="2011680"/>
            <a:ext cx="457200" cy="91440"/>
          </a:xfrm>
          <a:prstGeom prst="rect">
            <a:avLst/>
          </a:prstGeom>
          <a:solidFill>
            <a:srgbClr val="B0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5100" y="2194560"/>
            <a:ext cx="48691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B0432A"/>
                </a:solidFill>
                <a:latin typeface="Calibri"/>
              </a:rPr>
              <a:t>Меряем</a:t>
            </a:r>
            <a:r>
              <a:rPr sz="2000" b="1" dirty="0">
                <a:solidFill>
                  <a:srgbClr val="B0432A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B0432A"/>
                </a:solidFill>
                <a:latin typeface="Calibri"/>
              </a:rPr>
              <a:t>токенами</a:t>
            </a:r>
            <a:r>
              <a:rPr sz="2000" b="1" dirty="0">
                <a:solidFill>
                  <a:srgbClr val="B0432A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B0432A"/>
                </a:solidFill>
                <a:latin typeface="Calibri"/>
              </a:rPr>
              <a:t>той</a:t>
            </a:r>
            <a:r>
              <a:rPr sz="2000" b="1" dirty="0">
                <a:solidFill>
                  <a:srgbClr val="B0432A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B0432A"/>
                </a:solidFill>
                <a:latin typeface="Calibri"/>
              </a:rPr>
              <a:t>же</a:t>
            </a:r>
            <a:r>
              <a:rPr sz="2000" b="1" dirty="0">
                <a:solidFill>
                  <a:srgbClr val="B0432A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B0432A"/>
                </a:solidFill>
                <a:latin typeface="Calibri"/>
              </a:rPr>
              <a:t>модели</a:t>
            </a:r>
            <a:endParaRPr sz="2000" b="1" dirty="0">
              <a:solidFill>
                <a:srgbClr val="B0432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15100" y="2651760"/>
            <a:ext cx="48691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 err="1">
                <a:solidFill>
                  <a:srgbClr val="1C1917"/>
                </a:solidFill>
                <a:latin typeface="Calibri"/>
              </a:rPr>
              <a:t>До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512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токенов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по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токенизатору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BGE-M3 —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той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модели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что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строит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векторы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.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Фрагмент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не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обрезается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молча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при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построении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вектора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794760"/>
            <a:ext cx="5417820" cy="17373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22960" y="4023360"/>
            <a:ext cx="457200" cy="91440"/>
          </a:xfrm>
          <a:prstGeom prst="rect">
            <a:avLst/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" y="4206240"/>
            <a:ext cx="48691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B4A7A"/>
                </a:solidFill>
                <a:latin typeface="Calibri"/>
              </a:rPr>
              <a:t>В векторе — откуда фрагмент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4663440"/>
            <a:ext cx="48691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 err="1">
                <a:solidFill>
                  <a:srgbClr val="1C1917"/>
                </a:solidFill>
                <a:latin typeface="Calibri"/>
              </a:rPr>
              <a:t>Вектор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строится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из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названия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статьи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заголовков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раздела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текста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фрагмент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«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метод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применён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к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снимкам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»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знает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из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какого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раздела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какой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статьи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он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0780" y="3794760"/>
            <a:ext cx="5417820" cy="17373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15100" y="4023360"/>
            <a:ext cx="457200" cy="9144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15100" y="4206240"/>
            <a:ext cx="48691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1C1917"/>
                </a:solidFill>
                <a:latin typeface="Calibri"/>
              </a:rPr>
              <a:t>Текст</a:t>
            </a:r>
            <a:r>
              <a:rPr sz="2000" b="1" dirty="0">
                <a:solidFill>
                  <a:srgbClr val="1C1917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C1917"/>
                </a:solidFill>
                <a:latin typeface="Calibri"/>
              </a:rPr>
              <a:t>не</a:t>
            </a:r>
            <a:r>
              <a:rPr sz="2000" b="1" dirty="0">
                <a:solidFill>
                  <a:srgbClr val="1C1917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C1917"/>
                </a:solidFill>
                <a:latin typeface="Calibri"/>
              </a:rPr>
              <a:t>выбрасывается</a:t>
            </a:r>
            <a:endParaRPr sz="2000" b="1" dirty="0">
              <a:solidFill>
                <a:srgbClr val="1C1917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515100" y="4663440"/>
            <a:ext cx="48691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 err="1">
                <a:solidFill>
                  <a:srgbClr val="1C1917"/>
                </a:solidFill>
                <a:latin typeface="Calibri"/>
              </a:rPr>
              <a:t>Каждый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абзац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попадает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в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какой-то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фрагмент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.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Сознательно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убираются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только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список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литературы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служебный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текст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журнала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 (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благодарности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C1917"/>
                </a:solidFill>
                <a:latin typeface="Calibri"/>
              </a:rPr>
              <a:t>колонтитулы</a:t>
            </a:r>
            <a:r>
              <a:rPr sz="1500" b="0" dirty="0">
                <a:solidFill>
                  <a:srgbClr val="1C1917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Эмбеддинг: фрагмент → точка смысла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6446520" cy="37490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4440" y="3154680"/>
            <a:ext cx="201168" cy="201168"/>
          </a:xfrm>
          <a:prstGeom prst="ellipse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27048" y="30266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«зона окварцевания»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97480" y="3886200"/>
            <a:ext cx="182880" cy="182880"/>
          </a:xfrm>
          <a:prstGeom prst="ellipse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0088" y="37581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«кварцевые прожилки»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34840" y="2148840"/>
            <a:ext cx="164592" cy="164592"/>
          </a:xfrm>
          <a:prstGeom prst="ellipse">
            <a:avLst/>
          </a:prstGeom>
          <a:solidFill>
            <a:srgbClr val="6B635A"/>
          </a:solidFill>
          <a:ln w="12700">
            <a:solidFill>
              <a:srgbClr val="6B63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27448" y="20208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«граница гари»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977640" y="4709160"/>
            <a:ext cx="146304" cy="146304"/>
          </a:xfrm>
          <a:prstGeom prst="ellipse">
            <a:avLst/>
          </a:prstGeom>
          <a:solidFill>
            <a:srgbClr val="6B635A"/>
          </a:solidFill>
          <a:ln w="12700">
            <a:solidFill>
              <a:srgbClr val="6B63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70248" y="45811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«плотность линеаментов»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344168" y="3264408"/>
            <a:ext cx="1444752" cy="713232"/>
          </a:xfrm>
          <a:prstGeom prst="line">
            <a:avLst/>
          </a:prstGeom>
          <a:noFill/>
          <a:ln w="38100">
            <a:solidFill>
              <a:srgbClr val="B043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7160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по смыслу,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 слова разные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23760" y="1783080"/>
            <a:ext cx="4434840" cy="14630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1947672"/>
            <a:ext cx="3886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cos(a, b) = Σ a</a:t>
            </a:r>
            <a:r>
              <a:rPr lang="en-US" sz="13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
</a:t>
            </a: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∈ ℝ</a:t>
            </a:r>
            <a:r>
              <a:rPr lang="en-US" sz="13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‖v‖ = 1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223760" y="3429000"/>
            <a:ext cx="4434840" cy="21031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0" y="3657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на нашем корпусе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41148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 0,6</a:t>
            </a: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текст про то же самое
</a:t>
            </a:r>
            <a:r>
              <a:rPr lang="en-US" sz="1700" b="1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 – 0,45</a:t>
            </a: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случайный сосед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и английский лежат в одном пространстве смыслов: русский запрос находит англоязычную статью без перевода.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поиска вместо одного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смыслу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нужное, даже если слова совсем другие. Но теряет точные строки: «Анабарский щит», номер листа.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394960" cy="18288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словам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560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точные названия и номера. Русский словарь снимает окончания: «рудного узла» ищется по «рудный узел». Смысла не понимает.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46120" y="3611880"/>
            <a:ext cx="0" cy="41148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0" y="3611880"/>
            <a:ext cx="0" cy="41148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4023360"/>
            <a:ext cx="571500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99048" y="4023360"/>
            <a:ext cx="0" cy="32004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48640" y="4434840"/>
            <a:ext cx="11109960" cy="13258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599432"/>
            <a:ext cx="105613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score(d) = Σ 1 / (k + rank</a:t>
            </a:r>
            <a:r>
              <a:rPr lang="en-US" sz="13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(d)),   k = 60
</a:t>
            </a:r>
            <a:r>
              <a:rPr lang="en-US" sz="1900" b="1" dirty="0">
                <a:solidFill>
                  <a:srgbClr val="B0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1-е по смыслу + 3-е по словам = 1/61 + 1/63 = 0,0323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Складывать сами оценки нельзя — косинус и текстовый ранг несопоставимы. А места в списках сопоставимы всегда.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вектора — к статье и странице</a:t>
            </a:r>
            <a:endParaRPr lang="en-US" sz="4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 хранится не голый вектор: в той же строке лежат текст фрагмента и номер статьи, а по номеру одним запросом подтягивается её карточка.</a:t>
            </a:r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548640" y="1783080"/>
            <a:ext cx="26060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2011680"/>
            <a:ext cx="475488" cy="475488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26060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Запрос → вектор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24612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BGE-M3 переводит вопрос в 1024 числа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163824" y="2926080"/>
            <a:ext cx="210312" cy="0"/>
          </a:xfrm>
          <a:prstGeom prst="line">
            <a:avLst/>
          </a:prstGeom>
          <a:ln w="317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383280" y="1783080"/>
            <a:ext cx="26060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11880" y="2011680"/>
            <a:ext cx="475488" cy="475488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1188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26060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Ближайшие фрагменты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324612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индекс HNSW находит похожие векторы за доли секунды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98464" y="2926080"/>
            <a:ext cx="210312" cy="0"/>
          </a:xfrm>
          <a:prstGeom prst="line">
            <a:avLst/>
          </a:prstGeom>
          <a:ln w="317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217920" y="1783080"/>
            <a:ext cx="26060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46520" y="2011680"/>
            <a:ext cx="475488" cy="475488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4652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26060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Строка фрагмента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324612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вектор · текст · номер статьи · страницы · заголовки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833104" y="2926080"/>
            <a:ext cx="210312" cy="0"/>
          </a:xfrm>
          <a:prstGeom prst="line">
            <a:avLst/>
          </a:prstGeom>
          <a:ln w="317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052560" y="1783080"/>
            <a:ext cx="26060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281160" y="2011680"/>
            <a:ext cx="475488" cy="47548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8116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1160" y="26060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Карточка статьи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324612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название · авторы · год · журнал · DOI или ссылка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389120"/>
            <a:ext cx="11109960" cy="9144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8680" y="4549140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В выдаче — статья, страница и сам фрагмент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4892040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9C2B6"/>
                </a:solidFill>
                <a:latin typeface="Calibri"/>
              </a:rPr>
              <a:t>по ссылке можно открыть оригинал и проверить, что сказано именно там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B0432A"/>
                </a:solidFill>
                <a:latin typeface="Calibri"/>
              </a:rPr>
              <a:t>ЗНАНИЯ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Calibri"/>
              </a:rPr>
              <a:t>Связи: от статей к методам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90000"/>
            <a:ext cx="290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6B635A"/>
                </a:solidFill>
                <a:latin typeface="Calibri"/>
              </a:rPr>
              <a:t>Три разные статьи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00000" y="1990000"/>
            <a:ext cx="2958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6B635A"/>
                </a:solidFill>
                <a:latin typeface="Calibri"/>
              </a:rPr>
              <a:t>Методы из этих статей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0000"/>
            <a:ext cx="29000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" y="2570000"/>
            <a:ext cx="24885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1917"/>
                </a:solidFill>
                <a:latin typeface="Calibri"/>
              </a:rPr>
              <a:t>Металлогения Анабарского щита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3030000"/>
            <a:ext cx="24885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статья 2012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40000"/>
            <a:ext cx="29000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" y="3550000"/>
            <a:ext cx="24885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1917"/>
                </a:solidFill>
                <a:latin typeface="Calibri"/>
              </a:rPr>
              <a:t>Линеаменты и рудные узлы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4010000"/>
            <a:ext cx="24885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статья 2018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20000"/>
            <a:ext cx="29000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" y="4530000"/>
            <a:ext cx="24885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1917"/>
                </a:solidFill>
                <a:latin typeface="Calibri"/>
              </a:rPr>
              <a:t>Прогноз по снимкам 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4990000"/>
            <a:ext cx="24885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статья 2021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48640" y="2870000"/>
            <a:ext cx="551360" cy="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48640" y="3850000"/>
            <a:ext cx="551360" cy="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48640" y="4830000"/>
            <a:ext cx="551360" cy="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00000" y="2870000"/>
            <a:ext cx="0" cy="196000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000" y="3850000"/>
            <a:ext cx="6000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00000" y="2520000"/>
            <a:ext cx="12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B0432A"/>
                </a:solidFill>
                <a:latin typeface="Calibri"/>
              </a:rPr>
              <a:t>собран из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0000" y="3250000"/>
            <a:ext cx="3000000" cy="120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5740" y="3400000"/>
            <a:ext cx="258852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1EDE6"/>
                </a:solidFill>
                <a:latin typeface="Calibri"/>
              </a:rPr>
              <a:t>Датасет признаков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5740" y="3850000"/>
            <a:ext cx="258852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1EDE6"/>
                </a:solidFill>
                <a:latin typeface="Calibri"/>
              </a:rPr>
              <a:t>плотность линеаментов, разломы, аномалии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00000" y="3850000"/>
            <a:ext cx="600000" cy="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00000" y="2870000"/>
            <a:ext cx="0" cy="196000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00000" y="25200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B0432A"/>
                </a:solidFill>
                <a:latin typeface="Calibri"/>
              </a:rPr>
              <a:t>применяются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00000" y="2870000"/>
            <a:ext cx="5000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700000" y="2460000"/>
            <a:ext cx="29586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F5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05740" y="2570000"/>
            <a:ext cx="25471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5F5D"/>
                </a:solidFill>
                <a:latin typeface="Calibri"/>
              </a:rPr>
              <a:t>Кокригинг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5740" y="3030000"/>
            <a:ext cx="25471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из статьи 2012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00000" y="3850000"/>
            <a:ext cx="5000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700000" y="3440000"/>
            <a:ext cx="29586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3B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05740" y="3550000"/>
            <a:ext cx="25471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3B4A7A"/>
                </a:solidFill>
                <a:latin typeface="Calibri"/>
              </a:rPr>
              <a:t>Линеаментный анализ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5740" y="4010000"/>
            <a:ext cx="25471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из статьи 2018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0000" y="4830000"/>
            <a:ext cx="5000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700000" y="4420000"/>
            <a:ext cx="29586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B0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05740" y="4530000"/>
            <a:ext cx="25471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B0432A"/>
                </a:solidFill>
                <a:latin typeface="Calibri"/>
              </a:rPr>
              <a:t>Классификация по ASTER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5740" y="4990000"/>
            <a:ext cx="25471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из статьи 2021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0000" y="1650000"/>
            <a:ext cx="3600000" cy="620000"/>
          </a:xfrm>
          <a:prstGeom prst="rect">
            <a:avLst/>
          </a:prstGeom>
          <a:noFill/>
          <a:ln w="19050">
            <a:solidFill>
              <a:srgbClr val="6B63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50000" y="1650000"/>
            <a:ext cx="33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635A"/>
                </a:solidFill>
                <a:latin typeface="Calibri"/>
              </a:rPr>
              <a:t>…и дальше по графу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200000" y="2270000"/>
            <a:ext cx="0" cy="980000"/>
          </a:xfrm>
          <a:prstGeom prst="line">
            <a:avLst/>
          </a:prstGeom>
          <a:ln w="31750">
            <a:solidFill>
              <a:srgbClr val="6B63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100000" y="2270000"/>
            <a:ext cx="0" cy="980000"/>
          </a:xfrm>
          <a:prstGeom prst="line">
            <a:avLst/>
          </a:prstGeom>
          <a:ln w="31750">
            <a:solidFill>
              <a:srgbClr val="6B63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000000" y="2270000"/>
            <a:ext cx="0" cy="980000"/>
          </a:xfrm>
          <a:prstGeom prst="line">
            <a:avLst/>
          </a:prstGeom>
          <a:ln w="31750">
            <a:solidFill>
              <a:srgbClr val="6B63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35A"/>
                </a:solidFill>
                <a:latin typeface="Calibri"/>
              </a:rPr>
              <a:t>Связь означает ровно одно: об этих двух написано в одной статье. Ничего не додумано — за каждой связью стоит список статей, который можно открыть.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ЗНАНИЯ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факт попадает в граф</a:t>
            </a:r>
            <a:endParaRPr lang="en-US" sz="4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Верных фактов в графе — 87 % на независимой ручной проверке (без проверок было 73 %). У каждого факта — цитата, статья и страница.</a:t>
            </a:r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548640" y="1783080"/>
            <a:ext cx="2606040" cy="32004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2011680"/>
            <a:ext cx="475488" cy="475488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26060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Модель выписывает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15468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Qwen3 читает фрагмент и пишет «от — связь — к» с цитатой — по правилам из файла graph-rules.txt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163824" y="2331720"/>
            <a:ext cx="210312" cy="0"/>
          </a:xfrm>
          <a:prstGeom prst="line">
            <a:avLst/>
          </a:prstGeom>
          <a:ln w="317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383280" y="1783080"/>
            <a:ext cx="2606040" cy="32004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11880" y="2011680"/>
            <a:ext cx="475488" cy="475488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1188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26060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Код проверяет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315468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цитата дословно есть в статье; оба конца названы в цитате; не число, год, человек, местоимение; «вероятно» → «предположительно»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98464" y="2331720"/>
            <a:ext cx="210312" cy="0"/>
          </a:xfrm>
          <a:prstGeom prst="line">
            <a:avLst/>
          </a:prstGeom>
          <a:ln w="317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217920" y="1783080"/>
            <a:ext cx="2606040" cy="32004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46520" y="2011680"/>
            <a:ext cx="475488" cy="475488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4652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26060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Вопросы по цитате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315468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«X приурочено к чему?», «что приурочено к Y?» и два пропуска; в граф — при 3 совпадениях из 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833104" y="2331720"/>
            <a:ext cx="210312" cy="0"/>
          </a:xfrm>
          <a:prstGeom prst="line">
            <a:avLst/>
          </a:prstGeom>
          <a:ln w="317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052560" y="1783080"/>
            <a:ext cx="2606040" cy="32004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281160" y="2011680"/>
            <a:ext cx="475488" cy="475488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8116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1160" y="26060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</a:rPr>
              <a:t>Словарь синонимов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315468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6B635A"/>
                </a:solidFill>
                <a:latin typeface="Calibri"/>
              </a:rPr>
              <a:t>разные</a:t>
            </a:r>
            <a:r>
              <a:rPr sz="14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6B635A"/>
                </a:solidFill>
                <a:latin typeface="Calibri"/>
              </a:rPr>
              <a:t>написания</a:t>
            </a:r>
            <a:r>
              <a:rPr sz="1400" b="0" dirty="0">
                <a:solidFill>
                  <a:srgbClr val="6B635A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6B635A"/>
                </a:solidFill>
                <a:latin typeface="Calibri"/>
              </a:rPr>
              <a:t>один</a:t>
            </a:r>
            <a:r>
              <a:rPr sz="14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6B635A"/>
                </a:solidFill>
                <a:latin typeface="Calibri"/>
              </a:rPr>
              <a:t>узел</a:t>
            </a:r>
            <a:r>
              <a:rPr sz="1400" b="0" dirty="0">
                <a:solidFill>
                  <a:srgbClr val="6B635A"/>
                </a:solidFill>
                <a:latin typeface="Calibri"/>
              </a:rPr>
              <a:t> («Donetsk basin» = «</a:t>
            </a:r>
            <a:r>
              <a:rPr sz="1400" b="0" dirty="0" err="1">
                <a:solidFill>
                  <a:srgbClr val="6B635A"/>
                </a:solidFill>
                <a:latin typeface="Calibri"/>
              </a:rPr>
              <a:t>Донецкий</a:t>
            </a:r>
            <a:r>
              <a:rPr sz="14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6B635A"/>
                </a:solidFill>
                <a:latin typeface="Calibri"/>
              </a:rPr>
              <a:t>бассейн</a:t>
            </a:r>
            <a:r>
              <a:rPr sz="1400" b="0" dirty="0">
                <a:solidFill>
                  <a:srgbClr val="6B635A"/>
                </a:solidFill>
                <a:latin typeface="Calibri"/>
              </a:rPr>
              <a:t>»); «</a:t>
            </a:r>
            <a:r>
              <a:rPr sz="1400" b="0" dirty="0" err="1">
                <a:solidFill>
                  <a:srgbClr val="6B635A"/>
                </a:solidFill>
                <a:latin typeface="Calibri"/>
              </a:rPr>
              <a:t>включает</a:t>
            </a:r>
            <a:r>
              <a:rPr sz="1400" b="0" dirty="0">
                <a:solidFill>
                  <a:srgbClr val="6B635A"/>
                </a:solidFill>
                <a:latin typeface="Calibri"/>
              </a:rPr>
              <a:t>» → «</a:t>
            </a:r>
            <a:r>
              <a:rPr sz="1400" b="0" dirty="0" err="1">
                <a:solidFill>
                  <a:srgbClr val="6B635A"/>
                </a:solidFill>
                <a:latin typeface="Calibri"/>
              </a:rPr>
              <a:t>входит</a:t>
            </a:r>
            <a:r>
              <a:rPr sz="1400" b="0" dirty="0">
                <a:solidFill>
                  <a:srgbClr val="6B635A"/>
                </a:solidFill>
                <a:latin typeface="Calibri"/>
              </a:rPr>
              <a:t> в»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В РАБОТЕ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графу: только связи предмета</a:t>
            </a:r>
            <a:endParaRPr lang="en-US" sz="4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связи «золота» из статей базы. Поиск по графу смотрит только на факты, где предмет — один из концов, а не на все фрагменты.</a:t>
            </a:r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2377440" y="3108960"/>
            <a:ext cx="1737360" cy="64008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0" y="31089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золото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1783080"/>
            <a:ext cx="1737360" cy="6400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178308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C1917"/>
                </a:solidFill>
                <a:latin typeface="Calibri"/>
              </a:rPr>
              <a:t>лимонит-пирит-кварцевые прожилки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417320" y="2423160"/>
            <a:ext cx="1828800" cy="685800"/>
          </a:xfrm>
          <a:prstGeom prst="line">
            <a:avLst/>
          </a:prstGeom>
          <a:ln w="19050">
            <a:solidFill>
              <a:srgbClr val="6B6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691640" y="26289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B0432A"/>
                </a:solidFill>
                <a:latin typeface="Calibri"/>
              </a:rPr>
              <a:t>содержат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1783080"/>
            <a:ext cx="1737360" cy="6400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0" y="178308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C1917"/>
                </a:solidFill>
                <a:latin typeface="Calibri"/>
              </a:rPr>
              <a:t>кварц-карбонатные жилы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246120" y="2423160"/>
            <a:ext cx="1645920" cy="685800"/>
          </a:xfrm>
          <a:prstGeom prst="line">
            <a:avLst/>
          </a:prstGeom>
          <a:ln w="19050">
            <a:solidFill>
              <a:srgbClr val="6B6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29000" y="26289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B0432A"/>
                </a:solidFill>
                <a:latin typeface="Calibri"/>
              </a:rPr>
              <a:t>содержат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434840"/>
            <a:ext cx="1737360" cy="6400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443484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C1917"/>
                </a:solidFill>
                <a:latin typeface="Calibri"/>
              </a:rPr>
              <a:t>скарны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1417320" y="3749040"/>
            <a:ext cx="1828800" cy="685800"/>
          </a:xfrm>
          <a:prstGeom prst="line">
            <a:avLst/>
          </a:prstGeom>
          <a:ln w="19050">
            <a:solidFill>
              <a:srgbClr val="6B6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691640" y="39547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B0432A"/>
                </a:solidFill>
                <a:latin typeface="Calibri"/>
              </a:rPr>
              <a:t>содержат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4434840"/>
            <a:ext cx="1737360" cy="6400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0" y="443484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C1917"/>
                </a:solidFill>
                <a:latin typeface="Calibri"/>
              </a:rPr>
              <a:t>пирит</a:t>
            </a:r>
          </a:p>
        </p:txBody>
      </p:sp>
      <p:cxnSp>
        <p:nvCxnSpPr>
          <p:cNvPr id="56" name="Connector 55"/>
          <p:cNvCxnSpPr/>
          <p:nvPr/>
        </p:nvCxnSpPr>
        <p:spPr>
          <a:xfrm flipH="1" flipV="1">
            <a:off x="3246120" y="3749040"/>
            <a:ext cx="1645920" cy="685800"/>
          </a:xfrm>
          <a:prstGeom prst="line">
            <a:avLst/>
          </a:prstGeom>
          <a:ln w="19050">
            <a:solidFill>
              <a:srgbClr val="6B6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429000" y="39547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B0432A"/>
                </a:solidFill>
                <a:latin typeface="Calibri"/>
              </a:rPr>
              <a:t>приурочено 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1783080"/>
            <a:ext cx="5257800" cy="7772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583680" y="2057400"/>
            <a:ext cx="228600" cy="228600"/>
          </a:xfrm>
          <a:prstGeom prst="rect">
            <a:avLst/>
          </a:prstGeom>
          <a:solidFill>
            <a:srgbClr val="1F5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49440" y="187452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</a:rPr>
              <a:t>Вкладка «Граф связей»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219456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635A"/>
                </a:solidFill>
                <a:latin typeface="Calibri"/>
              </a:rPr>
              <a:t>«Найти» → узел и только его соседи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2651760"/>
            <a:ext cx="525780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583680" y="2926080"/>
            <a:ext cx="228600" cy="228600"/>
          </a:xfrm>
          <a:prstGeom prst="rect">
            <a:avLst/>
          </a:prstGeom>
          <a:solidFill>
            <a:srgbClr val="B0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49440" y="274320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</a:rPr>
              <a:t>«Все факты о …»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306324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635A"/>
                </a:solidFill>
                <a:latin typeface="Calibri"/>
              </a:rPr>
              <a:t>таблица фактов с цитатами, выгрузка в Excel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20440"/>
            <a:ext cx="5257800" cy="7772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583680" y="3794760"/>
            <a:ext cx="228600" cy="228600"/>
          </a:xfrm>
          <a:prstGeom prst="rect">
            <a:avLst/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949440" y="361188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</a:rPr>
              <a:t>Чат-бот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9440" y="393192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635A"/>
                </a:solidFill>
                <a:latin typeface="Calibri"/>
              </a:rPr>
              <a:t>«Что известно о …» — сводка фактов из графа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389120"/>
            <a:ext cx="525780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583680" y="4663440"/>
            <a:ext cx="228600" cy="2286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949440" y="448056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</a:rPr>
              <a:t>Телеграм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9440" y="480060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635A"/>
                </a:solidFill>
                <a:latin typeface="Calibri"/>
              </a:rPr>
              <a:t>картинка связей с кнопками соседей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за что отвечает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11680"/>
            <a:ext cx="256032" cy="256032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9568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из темы, отбор статей, извлечение связей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видеокарта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1109960" cy="713232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852928"/>
            <a:ext cx="256032" cy="25603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27797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27980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PDF: разделы, таблицы, номера страниц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2807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видеокарта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465576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3694176"/>
            <a:ext cx="256032" cy="25603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88720" y="36210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36393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текста в вектор из 1024 чисел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36484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видеокарта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109960" cy="713232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4535424"/>
            <a:ext cx="256032" cy="256032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88720" y="4462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фрагментов, оба индекса, граф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44897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локально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5148072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5376672"/>
            <a:ext cx="256032" cy="25603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5303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4343400" y="5321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двух поисков в одну выдачу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5330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без модели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на одной машине. Данные не покидают периметр.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без фреймворков</a:t>
            </a:r>
            <a:endParaRPr lang="en-US" sz="4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нужно устанавливать: страница открывается в обычном браузере на том же компьютере, сервер наружу не открыт.</a:t>
            </a:r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548640" y="1783080"/>
            <a:ext cx="11109960" cy="7315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2020824"/>
            <a:ext cx="256032" cy="256032"/>
          </a:xfrm>
          <a:prstGeom prst="rect">
            <a:avLst/>
          </a:prstGeom>
          <a:solidFill>
            <a:srgbClr val="1F5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88720" y="17830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C1917"/>
                </a:solidFill>
                <a:latin typeface="Calibri"/>
              </a:rPr>
              <a:t>Сервер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178308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1C1917"/>
                </a:solidFill>
                <a:latin typeface="Calibri"/>
              </a:rPr>
              <a:t>стандартный модуль Python http.server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17830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6B635A"/>
                </a:solidFill>
                <a:latin typeface="Calibri"/>
              </a:rPr>
              <a:t>localhost:8000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606040"/>
            <a:ext cx="11109960" cy="731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7240" y="2843784"/>
            <a:ext cx="256032" cy="256032"/>
          </a:xfrm>
          <a:prstGeom prst="rect">
            <a:avLst/>
          </a:prstGeom>
          <a:solidFill>
            <a:srgbClr val="B0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88720" y="26060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C1917"/>
                </a:solidFill>
                <a:latin typeface="Calibri"/>
              </a:rPr>
              <a:t>Страница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260604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1C1917"/>
                </a:solidFill>
                <a:latin typeface="Calibri"/>
              </a:rPr>
              <a:t>один файл index.html на чистом JavaScript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26060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6B635A"/>
                </a:solidFill>
                <a:latin typeface="Calibri"/>
              </a:rPr>
              <a:t>без сборки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429000"/>
            <a:ext cx="11109960" cy="7315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77240" y="3666744"/>
            <a:ext cx="256032" cy="256032"/>
          </a:xfrm>
          <a:prstGeom prst="rect">
            <a:avLst/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90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C1917"/>
                </a:solidFill>
                <a:latin typeface="Calibri"/>
              </a:rPr>
              <a:t>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342900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1C1917"/>
                </a:solidFill>
                <a:latin typeface="Calibri"/>
              </a:rPr>
              <a:t>JSON: поиск, статьи, граф, факты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4290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6B635A"/>
                </a:solidFill>
                <a:latin typeface="Calibri"/>
              </a:rPr>
              <a:t>/api/…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251960"/>
            <a:ext cx="11109960" cy="731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7240" y="4489704"/>
            <a:ext cx="256032" cy="256032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88720" y="42519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C1917"/>
                </a:solidFill>
                <a:latin typeface="Calibri"/>
              </a:rPr>
              <a:t>Чат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425196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1C1917"/>
                </a:solidFill>
                <a:latin typeface="Calibri"/>
              </a:rPr>
              <a:t>ответ приходит потоком, по мере написания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42519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6B635A"/>
                </a:solidFill>
                <a:latin typeface="Calibri"/>
              </a:rPr>
              <a:t>/api/chat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074920"/>
            <a:ext cx="11109960" cy="7315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77240" y="5312664"/>
            <a:ext cx="256032" cy="256032"/>
          </a:xfrm>
          <a:prstGeom prst="rect">
            <a:avLst/>
          </a:prstGeom>
          <a:solidFill>
            <a:srgbClr val="6B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88720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C1917"/>
                </a:solidFill>
                <a:latin typeface="Calibri"/>
              </a:rPr>
              <a:t>Граф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4720" y="507492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1C1917"/>
                </a:solidFill>
                <a:latin typeface="Calibri"/>
              </a:rPr>
              <a:t>рисуется на canvas собственной раскладкой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6B635A"/>
                </a:solidFill>
                <a:latin typeface="Calibri"/>
              </a:rPr>
              <a:t>без библиотек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базе знаний можно верить</a:t>
            </a:r>
            <a:endParaRPr lang="en-US" sz="4000" dirty="0"/>
          </a:p>
        </p:txBody>
      </p:sp>
      <p:sp>
        <p:nvSpPr>
          <p:cNvPr id="40" name="Rectangle 39"/>
          <p:cNvSpPr/>
          <p:nvPr/>
        </p:nvSpPr>
        <p:spPr>
          <a:xfrm>
            <a:off x="548640" y="1783080"/>
            <a:ext cx="3520440" cy="28346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2011680"/>
            <a:ext cx="457200" cy="91440"/>
          </a:xfrm>
          <a:prstGeom prst="rect">
            <a:avLst/>
          </a:prstGeom>
          <a:solidFill>
            <a:srgbClr val="1F5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21945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B635A"/>
                </a:solidFill>
                <a:latin typeface="Calibri"/>
              </a:rPr>
              <a:t>Ответы чат-бота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256032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F5F5D"/>
                </a:solidFill>
                <a:latin typeface="Calibri"/>
              </a:rPr>
              <a:t>19 из 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2918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</a:rPr>
              <a:t>вопросов по темам статей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3794760"/>
            <a:ext cx="3063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300" b="0" dirty="0">
                <a:solidFill>
                  <a:srgbClr val="6B635A"/>
                </a:solidFill>
                <a:latin typeface="Calibri"/>
              </a:rPr>
              <a:t>95%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утверждений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со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ссылкой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на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фрагмент</a:t>
            </a:r>
            <a:endParaRPr sz="1300" b="0" dirty="0">
              <a:solidFill>
                <a:srgbClr val="6B635A"/>
              </a:solidFill>
              <a:latin typeface="Calibri"/>
            </a:endParaRPr>
          </a:p>
          <a:p>
            <a:pPr algn="l"/>
            <a:r>
              <a:rPr sz="1300" b="0" dirty="0" err="1">
                <a:solidFill>
                  <a:srgbClr val="6B635A"/>
                </a:solidFill>
                <a:latin typeface="Calibri"/>
              </a:rPr>
              <a:t>фразы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без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ссылки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убираются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из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ответа</a:t>
            </a:r>
            <a:endParaRPr sz="1300" b="0" dirty="0">
              <a:solidFill>
                <a:srgbClr val="6B635A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343400" y="1783080"/>
            <a:ext cx="3520440" cy="28346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dirty="0"/>
          </a:p>
        </p:txBody>
      </p:sp>
      <p:sp>
        <p:nvSpPr>
          <p:cNvPr id="47" name="Rectangle 46"/>
          <p:cNvSpPr/>
          <p:nvPr/>
        </p:nvSpPr>
        <p:spPr>
          <a:xfrm>
            <a:off x="4572000" y="2011680"/>
            <a:ext cx="457200" cy="91440"/>
          </a:xfrm>
          <a:prstGeom prst="rect">
            <a:avLst/>
          </a:prstGeom>
          <a:solidFill>
            <a:srgbClr val="B0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0" y="21945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B635A"/>
                </a:solidFill>
                <a:latin typeface="Calibri"/>
              </a:rPr>
              <a:t>Факты графа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256032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>
                <a:solidFill>
                  <a:srgbClr val="B0432A"/>
                </a:solidFill>
                <a:latin typeface="Calibri"/>
              </a:rPr>
              <a:t>87%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32918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1C1917"/>
                </a:solidFill>
                <a:latin typeface="Calibri"/>
              </a:rPr>
              <a:t>фактов</a:t>
            </a:r>
            <a:r>
              <a:rPr sz="1600" b="1" dirty="0">
                <a:solidFill>
                  <a:srgbClr val="1C1917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C1917"/>
                </a:solidFill>
                <a:latin typeface="Calibri"/>
              </a:rPr>
              <a:t>верны</a:t>
            </a:r>
            <a:r>
              <a:rPr sz="1600" b="1" dirty="0">
                <a:solidFill>
                  <a:srgbClr val="1C1917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C1917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C1917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C1917"/>
                </a:solidFill>
                <a:latin typeface="Calibri"/>
              </a:rPr>
              <a:t>смыслу</a:t>
            </a:r>
            <a:endParaRPr sz="1600" b="1" dirty="0">
              <a:solidFill>
                <a:srgbClr val="1C1917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2000" y="3794760"/>
            <a:ext cx="3063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300" b="0" dirty="0" err="1" smtClean="0">
                <a:solidFill>
                  <a:srgbClr val="6B635A"/>
                </a:solidFill>
                <a:latin typeface="Calibri"/>
              </a:rPr>
              <a:t>каждый</a:t>
            </a:r>
            <a:r>
              <a:rPr sz="1300" b="0" dirty="0" smtClean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факт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проверен</a:t>
            </a:r>
            <a:endParaRPr sz="1300" b="0" dirty="0">
              <a:solidFill>
                <a:srgbClr val="6B635A"/>
              </a:solidFill>
              <a:latin typeface="Calibri"/>
            </a:endParaRPr>
          </a:p>
          <a:p>
            <a:pPr algn="just"/>
            <a:r>
              <a:rPr sz="1300" b="0" dirty="0" err="1">
                <a:solidFill>
                  <a:srgbClr val="6B635A"/>
                </a:solidFill>
                <a:latin typeface="Calibri"/>
              </a:rPr>
              <a:t>четырьмя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вопросами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по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цитате</a:t>
            </a:r>
            <a:endParaRPr sz="1300" b="0" dirty="0">
              <a:solidFill>
                <a:srgbClr val="6B635A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138160" y="1783080"/>
            <a:ext cx="3520440" cy="28346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366760" y="2011680"/>
            <a:ext cx="457200" cy="91440"/>
          </a:xfrm>
          <a:prstGeom prst="rect">
            <a:avLst/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66760" y="21945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B635A"/>
                </a:solidFill>
                <a:latin typeface="Calibri"/>
              </a:rPr>
              <a:t>Разбор PDF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56032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3B4A7A"/>
                </a:solidFill>
                <a:latin typeface="Calibri"/>
              </a:rPr>
              <a:t>65 из 65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918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</a:rPr>
              <a:t>номеров страниц указаны верно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794760"/>
            <a:ext cx="3063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B635A"/>
                </a:solidFill>
                <a:latin typeface="Calibri"/>
              </a:rPr>
              <a:t>90%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фрагментов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—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чистый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текст</a:t>
            </a:r>
            <a:r>
              <a:rPr sz="1300" b="0" dirty="0">
                <a:solidFill>
                  <a:srgbClr val="6B635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B635A"/>
                </a:solidFill>
                <a:latin typeface="Calibri"/>
              </a:rPr>
              <a:t>статьи</a:t>
            </a:r>
            <a:endParaRPr sz="1300" b="0" dirty="0">
              <a:solidFill>
                <a:srgbClr val="6B635A"/>
              </a:solidFill>
              <a:latin typeface="Calibri"/>
            </a:endParaRPr>
          </a:p>
          <a:p>
            <a:pPr algn="l"/>
            <a:endParaRPr sz="1300" b="0" dirty="0">
              <a:solidFill>
                <a:srgbClr val="6B635A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8640" y="4892040"/>
            <a:ext cx="11109960" cy="86868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8680" y="5029200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Утверждения ответов и факты графа ведут к статье и странице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372100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9C2B6"/>
                </a:solidFill>
                <a:latin typeface="Calibri"/>
              </a:rPr>
              <a:t>по Анабару статей пока нет — бот честно отвечает «в базе нет», а не подставляет чужие районы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ПРОГНОЗА ОРУДЕНЕНИЯ · АНАБАРСКИЙ ЩИТ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en-US" sz="6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аза</a:t>
            </a:r>
            <a:r>
              <a:rPr lang="en-US" sz="6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знаний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система, которая сама ищет, разбирает и связывает геологические знания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2377440" cy="7315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094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2729</Words>
  <Application>Microsoft Office PowerPoint</Application>
  <PresentationFormat>Широкоэкранный</PresentationFormat>
  <Paragraphs>297</Paragraphs>
  <Slides>17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ГеоRAG — модель и база знаний</dc:title>
  <dc:subject>PptxGenJS Presentation</dc:subject>
  <dc:creator>ГеоRAG</dc:creator>
  <cp:lastModifiedBy>Janfik</cp:lastModifiedBy>
  <cp:revision>10</cp:revision>
  <dcterms:created xsi:type="dcterms:W3CDTF">2026-09-15T17:53:32Z</dcterms:created>
  <dcterms:modified xsi:type="dcterms:W3CDTF">2026-10-08T18:13:03Z</dcterms:modified>
</cp:coreProperties>
</file>