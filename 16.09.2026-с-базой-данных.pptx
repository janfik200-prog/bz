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2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890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Доклад про базу знаний для прогноза оруденения на Анабарском щите.</a:t>
            </a:r>
          </a:p>
          <a:p>
            <a:r>
              <a:t>Сначала коротко, что это. Система из двух частей. Первая — языковая модель: её задача сопоставить данные о нашей территории с тем, что известно о похожих месторождениях. Но чтобы сопоставлять, надо откуда-то брать это «известно» — поэтому модель сама ищет литературу, разбирает её и складывает в базу. Вторая часть — сама база: не свалка PDF, а литература, разложенная на смысловые фрагменты, и у каждого записано, из какой статьи и с какой страницы он взят.</a:t>
            </a:r>
          </a:p>
          <a:p>
            <a:r>
              <a:t>Дальше — зачем это нужно, как устроено и что уже сделано. Минут семь.</a:t>
            </a:r>
          </a:p>
          <a:p>
            <a:r>
              <a:t>Держать в голове: говорить по факту. Где не доделано — сказать прямо, не обещать.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Сразу отвечу на вопрос «зачем».</a:t>
            </a:r>
          </a:p>
          <a:p>
            <a:r>
              <a:t>База знаний — не конечный продукт, а сырьё. Из неё собирается датасет: признаки, по которым выделяют рудные узлы, пороговые значения, методы, эталонные примеры. Всё это выписано из литературы, а не придумано.</a:t>
            </a:r>
          </a:p>
          <a:p>
            <a:r>
              <a:t>И уже датасет применяется к нашей территории — Анабарскому щиту.</a:t>
            </a:r>
          </a:p>
          <a:p>
            <a:r>
              <a:t>То есть цепочка из трёх звеньев, и база — только первое. Сама по себе она ничего не прогнозирует.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Весь путь целиком, шесть шагов.</a:t>
            </a:r>
          </a:p>
          <a:p>
            <a:r>
              <a:t>Первое — источники: три научных каталога, откуда берутся статьи. Второе — отбор: по теме статья или мимо. Третье — разбор PDF: достаём текст, разделы, таблицы и номера страниц. Четвёртое — режем на фрагменты. Пятое — кладём в базу. Шестое — поиск.</a:t>
            </a:r>
          </a:p>
          <a:p>
            <a:r>
              <a:t>Если назвать формально, что получилось: гибридная база знаний документного типа. Гибридная — потому что три способа доступа к одним и тем же фрагментам: по смыслу, по точным словам и по связям. Документного типа — потому что хранятся не факты, а фрагменты статей, и любое утверждение прослеживается до страницы источника. И это не онтология: схема понятий заранее не задана, граф строится поверх текстов.</a:t>
            </a:r>
          </a:p>
          <a:p>
            <a:r>
              <a:t>Всё крутится на одной машине. Наружу система выходит только за самими статьями: ни запросы, ни тексты никуда не передаются.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Подключены три источника.</a:t>
            </a:r>
          </a:p>
          <a:p>
            <a:r>
              <a:t>OpenAlex — открытый каталог научных работ, больше двухсот пятидесяти миллионов записей, индексирует и русскую периодику с DOI. Crossref — регистратор DOI: метаданные всех статей, у которых DOI вообще есть. MDPI — издательство открытого доступа; собственный поиск у него закрыт, поэтому идём через Crossref по коду издателя.</a:t>
            </a:r>
          </a:p>
          <a:p>
            <a:r>
              <a:t>Скажу прямо: eLibrary, Lens и КиберЛенинка автоматике не отдаются — где-то нет API, где-то проверка на робота. А основная русская литература по Анабару живёт именно там. Эту часть заносим руками: кладём PDF, и дальше он проходит ровно тот же путь, что и скачанный автоматически.</a:t>
            </a:r>
          </a:p>
          <a:p>
            <a:r>
              <a:t>Зато добавить новый источник может любой: список в отдельном файле, дописать адрес и соответствие полей. Программист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Человек пишет одну строку обычными словами — «выделение рудных узлов». Дальше он в поиск не вмешивается.</a:t>
            </a:r>
          </a:p>
          <a:p>
            <a:r>
              <a:t>Эту строку получает Qwen3-14B и раскладывает на пять запросов: английские, русские, с синонимами. Одни и те же работы в разных каталогах ищутся по-разному, поэтому одного запроса мало.</a:t>
            </a:r>
          </a:p>
          <a:p>
            <a:r>
              <a:t>Две детали, которые мы получили на живых прогонах. Кавычки обязательны: без них «ore cluster» искалось по словам отдельно и приводило статьи про звёздные скопления в Орионе. И географические названия нельзя терять при переводе — сначала «Анабарский щит металлогения» превращалось просто в shield metallogeny, и мы получали щиты всего мира вместо своего.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Статья не хранится и не ищется целиком. Она режется на фрагменты по границам разделов: методика отдельно, признаки отдельно, результаты отдельно.</a:t>
            </a:r>
          </a:p>
          <a:p>
            <a:r>
              <a:t>Размер — пятьсот двенадцать токенов. По факту выходит от девяти до тридцати фрагментов на статью.</a:t>
            </a:r>
          </a:p>
          <a:p>
            <a:r>
              <a:t>Считаем в токенах, и тем же токенайзером, которым пользуется модель. Он кодирует русский вдвое экономнее английского — счёт по символам ошибся бы в разы.</a:t>
            </a:r>
          </a:p>
          <a:p>
            <a:r>
              <a:t>Смысл в том, что поиск находит не «статью, где что-то похожее», а конкретный абзац, отвечающий на вопрос.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фрагмент превращается в вектор — тысяча двадцать четыре числа. Это координаты точки в пространстве смыслов.</a:t>
            </a:r>
          </a:p>
          <a:p>
            <a:r>
              <a:t>Близость двух фрагментов — косинус угла между векторами. Векторы нормированы, поэтому косинус сводится к обычному скалярному произведению.</a:t>
            </a:r>
          </a:p>
          <a:p>
            <a:r>
              <a:t>На нашем корпусе шкала такая: выше шести десятых — текст действительно про то же самое; три–четыре десятых — случайный сосед.</a:t>
            </a:r>
          </a:p>
          <a:p>
            <a:r>
              <a:t>Это важно, потому что векторный поиск находит что-нибудь всегда, даже когда подходящего в базе нет. Поэтому стоит порог отсечения.</a:t>
            </a:r>
          </a:p>
          <a:p>
            <a:r>
              <a:t>И модель многоязычная: русский и английский в одном пространстве, поэтому русский запрос находит англоязычную статью без перевода.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Одного способа мало.</a:t>
            </a:r>
          </a:p>
          <a:p>
            <a:r>
              <a:t>Поиск по смыслу находит нужное, даже если слова совсем другие. Но теряет точные строки — название площади, номер листа.</a:t>
            </a:r>
          </a:p>
          <a:p>
            <a:r>
              <a:t>Поиск по словам наоборот: точные названия находит, смысла не понимает. Русский словарь снимает окончания, так что «рудного узла» ищется по «рудный узел».</a:t>
            </a:r>
          </a:p>
          <a:p>
            <a:r>
              <a:t>Работают оба, а результаты объединяются формулой RRF.</a:t>
            </a:r>
          </a:p>
          <a:p>
            <a:r>
              <a:t>Ключевая мысль: складывать сами оценки нельзя. Косинус от нуля до единицы, текстовый ранг ничем сверху не ограничен — они несопоставимы. А места в списках сопоставимы всегда. Поэтому складываем не оценки, а обратные величины от мест.</a:t>
            </a:r>
          </a:p>
          <a:p>
            <a:r>
              <a:t>Пример на слайде: фрагмент первый по смыслу и третий по словам — выходит три сотых с небольшим.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Поверх текстов строится граф. Вот как он работает на простом примере.</a:t>
            </a:r>
          </a:p>
          <a:p>
            <a:r>
              <a:t>Слева три разные статьи. Из каждой выписаны признаки, и они сходятся в один общий датасет — плотность линеаментов, разломы, аномалии. Это и есть то, ради чего собиралась база: признаки из разных работ в одном месте.</a:t>
            </a:r>
          </a:p>
          <a:p>
            <a:r>
              <a:t>Справа — методы, которыми эти признаки изучали. Каждый метод пришёл из своей статьи, и рядом написано, из какой именно. То есть по графу можно идти в обе стороны: от признака — к методам, от метода — обратно к статье.</a:t>
            </a:r>
          </a:p>
          <a:p>
            <a:r>
              <a:t>Стрелки вверх означают, что датасет связан не только с этим: к нему цепляются рудные узлы, территории, другие признаки. Граф на этом не заканчивается.</a:t>
            </a:r>
          </a:p>
          <a:p>
            <a:r>
              <a:t>И скажу точно, что означает связь: об этих двух написано в одной статье. Больше ничего. Я намеренно не делал «силу связи ноль целых семьдесят три» — такое число выглядит убедительно, а проверить его нельзя. Здесь за каждой связью стоит список статей, который можно открыть и прочитать.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Коротко, кто что делает.</a:t>
            </a:r>
          </a:p>
          <a:p>
            <a:r>
              <a:t>Qwen3-14B — языковая модель: составляет запросы, отбирает статьи, вытаскивает связи. Локально, на видеокарте.</a:t>
            </a:r>
          </a:p>
          <a:p>
            <a:r>
              <a:t>Docling — разбирает PDF.</a:t>
            </a:r>
          </a:p>
          <a:p>
            <a:r>
              <a:t>BGE-M3 — превращает текст в векторы.</a:t>
            </a:r>
          </a:p>
          <a:p>
            <a:r>
              <a:t>PostgreSQL с расширением pgvector — хранит всё: фрагменты, оба индекса и граф.</a:t>
            </a:r>
          </a:p>
          <a:p>
            <a:r>
              <a:t>RRF — объединяет два поиска; это просто формула, модели там нет.</a:t>
            </a:r>
          </a:p>
          <a:p>
            <a:r>
              <a:t>Всё на одной машине, данные не покидают периметр.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Доклад про базу знаний для прогноза оруденения на Анабарском щите.</a:t>
            </a:r>
          </a:p>
          <a:p>
            <a:r>
              <a:t>Сначала коротко, что это. Система из двух частей. Первая — языковая модель: её задача сопоставить данные о нашей территории с тем, что известно о похожих месторождениях. Но чтобы сопоставлять, надо откуда-то брать это «известно» — поэтому модель сама ищет литературу, разбирает её и складывает в базу. Вторая часть — сама база: не свалка PDF, а литература, разложенная на смысловые фрагменты, и у каждого записано, из какой статьи и с какой страницы он взят.</a:t>
            </a:r>
          </a:p>
          <a:p>
            <a:r>
              <a:t>Дальше — зачем это нужно, как устроено и что уже сделано. Минут семь.</a:t>
            </a:r>
          </a:p>
          <a:p>
            <a:r>
              <a:t>Держать в голове: говорить по факту. Где не доделано — сказать прямо, не обещать.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25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Вторая часть — база данных проекта. Её ведёт другой человек, она живёт на другой машине, но без неё база знаний бессмысленна: литература нужна, чтобы обосновать признаки, а признаки лежат там.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слоя. Данные — территории, сетка ячеек и значения признаков. Паспорта — описание каждого признака: что он значит геологически, чем посчитан и на чём основан. Журнал — что и когда запускалось, включая каждое обращение к модели.</a:t>
            </a:r>
          </a:p>
          <a:p>
            <a:r>
              <a:t>Главное свойство — происхождение: у любого числа можно спросить, откуда оно.</a:t>
            </a:r>
          </a:p>
          <a:p>
            <a:r>
              <a:t>Поле «обоснование» в паспорте сейчас кончается словами «публикация не привязана». Это и есть место, куда придёт литература из базы знаний.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Главное правило базы данных. Агент — языковая модель gemma4 — пишет только черновики: смысл признака, связь с понятием, а теперь и цитаты из статей.</a:t>
            </a:r>
          </a:p>
          <a:p>
            <a:r>
              <a:t>Черновики встают в очередь панели подтверждений. В карточке человек видит ровно те факты, которые получала модель, и судит по ним.</a:t>
            </a:r>
          </a:p>
          <a:p>
            <a:r>
              <a:t>Подтвердить или отклонить может только человек. Это не договорённость, а триггер в базе: скрипт агента получит ошибку.</a:t>
            </a:r>
          </a:p>
          <a:p>
            <a:r>
              <a:t>И каждое обращение к модели записано вместе с отпечатком весов — через полгода можно доказать, какой именно моделью сделан паспорт.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Состав базы данных, в том же виде, что у базы знаний.</a:t>
            </a:r>
          </a:p>
          <a:p>
            <a:r>
              <a:t>PostgreSQL 18 с PostGIS — хранит данные с координатами.</a:t>
            </a:r>
          </a:p>
          <a:p>
            <a:r>
              <a:t>Модель своя — gemma4 на 12 миллиардов параметров, локально, через Ollama. Паспорт признака — около 5 секунд.</a:t>
            </a:r>
          </a:p>
          <a:p>
            <a:r>
              <a:t>Панель подтверждений — страница в браузере, где человек принимает решения.</a:t>
            </a:r>
          </a:p>
          <a:p>
            <a:r>
              <a:t>Роли разделяют агента и человека.</a:t>
            </a:r>
          </a:p>
          <a:p>
            <a:r>
              <a:t>И мост — обычный скрипт, модели в нём нет: он спрашивает базу знаний и записывает ответ.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— как две базы работают вместе. Коротко: у них общий словарь понятий. База данных спрашивает по понятию, база знаний отвечает найденными цитатами.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связать две базы, у которых нет общих таблиц? Через понятие.</a:t>
            </a:r>
          </a:p>
          <a:p>
            <a:r>
              <a:t>В базе данных признак связан с понятием — например, признак по снимкам ASTER связан с понятием «гидротермальные изменения».</a:t>
            </a:r>
          </a:p>
          <a:p>
            <a:r>
              <a:t>В базе знаний каждый фрагмент статьи размечен по тем же понятиям: по смыслу и по словарю синонимов, с дословной цитатой.</a:t>
            </a:r>
          </a:p>
          <a:p>
            <a:r>
              <a:t>Словарь понятий один на двоих — восемь понятий, коды совпадают буква в букву. Поэтому цепочка от признака до цитаты в статье проходит без ручной работы.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Так выглядит один обмен. Скрипт базы данных берёт черновик паспорта, по связи находит понятие и по группе признака — метод: для признаков из ASTER это ASTER.</a:t>
            </a:r>
          </a:p>
          <a:p>
            <a:r>
              <a:t>Спрашивает: что в статьях написано про гидротермальные изменения на Билляхской зоне по ASTER. Одна цитата на статью — нужны разные статьи, а не абзацы одной.</a:t>
            </a:r>
          </a:p>
          <a:p>
            <a:r>
              <a:t>Ответ — название, год, DOI, страница и дословная цитата. И отметка, проверила ли фрагмент наша модель.</a:t>
            </a:r>
          </a:p>
          <a:p>
            <a:r>
              <a:t>Если по такому узкому запросу пусто, отбор ослабляется по шагам — сначала убирается метод, потом территория расширяется до Анабарского щита. Какой шаг сработал, пишется в обосновании, чтобы человек видел, насколько цитата точная.</a:t>
            </a:r>
          </a:p>
          <a:p>
            <a:r>
              <a:t>Важно: Qwen здесь не сочиняет ответ. Она заранее проверила разметку, а цитату код нашёл в тексте статьи сам.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Физически это две машины. На машине с базой знаний работает сервер — команда serve — и включён стандартный сервер SSH Windows.</a:t>
            </a:r>
          </a:p>
          <a:p>
            <a:r>
              <a:t>С машины базы данных поднимается SSH-туннель одной командой. После этого для неё адрес localhost:8000 ведёт к базе знаний, и скрипт моста работает так, будто всё на одном компьютере.</a:t>
            </a:r>
          </a:p>
          <a:p>
            <a:r>
              <a:t>Скрипт кладёт цитаты черновиком, а человек подтверждает их в панели — тем же решением, что и сам паспорт.</a:t>
            </a:r>
          </a:p>
          <a:p>
            <a:r>
              <a:t>Если базы окажутся на одном компьютере, туннель просто не нужен.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Где мы сейчас. Готово всё, что нужно для связи: общий словарь, запрос, скрипт и таблицы на стороне базы данных.</a:t>
            </a:r>
          </a:p>
          <a:p>
            <a:r>
              <a:t>Проверено на тестовых копиях обеих баз, на настоящем PostgreSQL: 17 проверок из 17. Отдельно проверено, что повторный запуск не трогает то, что человек уже подтвердил.</a:t>
            </a:r>
          </a:p>
          <a:p>
            <a:r>
              <a:t>Чего нет: на рабочей базе мост не запускался. Порядок такой — владелец базы принимает изменения, мы собираем корпус статей по Анабару, и первый прогон идёт с проверкой в панели.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ПРОГНОЗА ОРУДЕНЕНИЯ · АНАБАРСКИЙ ЩИТ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6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аза</a:t>
            </a:r>
            <a:r>
              <a:rPr lang="en-US" sz="6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знаний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система, которая сама ищет, разбирает и связывает геологические знания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это сырьё, а не результат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240280"/>
            <a:ext cx="457200" cy="128016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smtClean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Литература, </a:t>
            </a: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разобранная на фрагменты с ссылками на источник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3308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240280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признаков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Признаки, пороговые значения, методы и эталонные примеры, выписанные из литературы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2784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13816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240280"/>
            <a:ext cx="457200" cy="128016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территория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Прогнозная модель по Анабарскому щиту, построенная на этих признаках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надо всю цепочку: сама по себе база знаний ничего не прогнозирует — она даёт материал, из которого собирается датасет.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источника до ответа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1168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· Crossref · MDPI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33088" y="260604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178308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011680"/>
            <a:ext cx="475488" cy="475488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276088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теме или мимо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27848" y="260604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138160" y="178308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201168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070848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PDF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разделы, таблицы, страницы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79476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23360"/>
            <a:ext cx="475488" cy="475488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481328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токенов, с номерами страниц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133088" y="461772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343400" y="379476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4023360"/>
            <a:ext cx="475488" cy="475488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772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5276088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· слова · граф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927848" y="461772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138160" y="3794760"/>
            <a:ext cx="3520440" cy="1645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12480" y="4023360"/>
            <a:ext cx="475488" cy="475488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070848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4709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гибридный, со ссылками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идут по номерам: верхний ряд — с первого по третий, нижний — с четвёртого по шестой. Всё считается на одной машине; наружу система выходит только за самими статьями.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статьи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29968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529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каталог научных работ, свыше 250 млн записей. Индексирует и русскую периодику с DOI.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029968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8529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Регистратор DOI: метаданные всех статей, у которых DOI вообще есть.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38160" y="1783080"/>
            <a:ext cx="3520440" cy="2286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2029968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28529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Издательство открытого доступа. 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343400"/>
            <a:ext cx="5394960" cy="15087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553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вручную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ru-RU" sz="1600" dirty="0" err="1" smtClean="0"/>
              <a:t>Пдф</a:t>
            </a:r>
            <a:r>
              <a:rPr lang="ru-RU" sz="1600" dirty="0" smtClean="0"/>
              <a:t> файлы и </a:t>
            </a:r>
            <a:r>
              <a:rPr lang="ru-RU" sz="1600" dirty="0" err="1" smtClean="0"/>
              <a:t>тд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63640" y="4343400"/>
            <a:ext cx="5394960" cy="150876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37960" y="4553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источник — без программиста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источников лежит в отдельном файле. Добавить сайт — это дописать адрес и карту полей ответа. Кода менять не нужно.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СБОР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Одна тема → пять запросов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916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6B635A"/>
                </a:solidFill>
                <a:latin typeface="Calibri"/>
              </a:rPr>
              <a:t>Человек пишет тему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41680"/>
            <a:ext cx="3520440" cy="90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441680"/>
            <a:ext cx="306324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Calibri"/>
              </a:rPr>
              <a:t>выделение рудных узлов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168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одна строка, один 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72768"/>
            <a:ext cx="6172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6B635A"/>
                </a:solidFill>
                <a:latin typeface="Calibri"/>
              </a:rPr>
              <a:t>Qwen3-14B составляет запросы сама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3891680"/>
            <a:ext cx="630920" cy="0"/>
          </a:xfrm>
          <a:prstGeom prst="line">
            <a:avLst/>
          </a:prstGeom>
          <a:ln w="3810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0000" y="2321680"/>
            <a:ext cx="0" cy="314000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0000" y="2321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2011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2011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400" y="2011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delineation "ore cluster"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0000" y="3106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0" y="2796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2796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400" y="2796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prospectivity "ore cluster" mapping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0000" y="3891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0" y="3581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3581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400" y="3581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"ore cluster" metallogenic zoning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00000" y="4676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0" y="4366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4366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400" y="4366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lineament density ore prediction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00000" y="5461680"/>
            <a:ext cx="7864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0" y="5151680"/>
            <a:ext cx="6172200" cy="62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0" y="5151680"/>
            <a:ext cx="4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0432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400" y="5151680"/>
            <a:ext cx="51922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ourier New"/>
              </a:rPr>
              <a:t>рудный узел выделение критерии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Тему человек пишет один раз. Кавычки, перевод и синонимы модель добавляет сама — без них «ore cluster» приводил статьи про звёздные скопления в Орионе.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Чанкинг: статья → фрагменты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286000" cy="210312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PDF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971800" y="2880360"/>
            <a:ext cx="5486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657600" y="178308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13632" y="19110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исследования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0" y="265176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13632" y="27797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признака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657600" y="352044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13632" y="36484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657600" y="4389120"/>
            <a:ext cx="3566160" cy="658368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13632" y="4517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680960" y="1783080"/>
            <a:ext cx="3977640" cy="16916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1947672"/>
            <a:ext cx="3429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512 токенов
N / L — число кусков
</a:t>
            </a:r>
            <a:r>
              <a:rPr lang="en-US" sz="1900" b="1" dirty="0">
                <a:solidFill>
                  <a:srgbClr val="B0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факт: 9–30 на статью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749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токенах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2062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тем же токенайзером, что и модель эмбеддинга. Он кодирует русский вдвое экономнее английских — счёт по символам ошибся бы в разы.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Режем по границам разделов — фрагмент не рвёт мысль посередине. Поэтому перекрытие не нужно.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Эмбеддинг: фрагмент → точка смысла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6446520" cy="37490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3154680"/>
            <a:ext cx="201168" cy="201168"/>
          </a:xfrm>
          <a:prstGeom prst="ellipse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27048" y="30266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«зона окварцевания»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97480" y="3886200"/>
            <a:ext cx="182880" cy="182880"/>
          </a:xfrm>
          <a:prstGeom prst="ellipse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0088" y="37581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«кварцевые прожилки»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34840" y="2148840"/>
            <a:ext cx="164592" cy="164592"/>
          </a:xfrm>
          <a:prstGeom prst="ellipse">
            <a:avLst/>
          </a:prstGeom>
          <a:solidFill>
            <a:srgbClr val="6B635A"/>
          </a:solidFill>
          <a:ln w="12700">
            <a:solidFill>
              <a:srgbClr val="6B63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27448" y="20208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«граница гари»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977640" y="4709160"/>
            <a:ext cx="146304" cy="146304"/>
          </a:xfrm>
          <a:prstGeom prst="ellipse">
            <a:avLst/>
          </a:prstGeom>
          <a:solidFill>
            <a:srgbClr val="6B635A"/>
          </a:solidFill>
          <a:ln w="12700">
            <a:solidFill>
              <a:srgbClr val="6B63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70248" y="45811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«плотность линеаментов»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344168" y="3264408"/>
            <a:ext cx="1444752" cy="713232"/>
          </a:xfrm>
          <a:prstGeom prst="line">
            <a:avLst/>
          </a:prstGeom>
          <a:noFill/>
          <a:ln w="38100">
            <a:solidFill>
              <a:srgbClr val="B043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716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по смыслу,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 слова разные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23760" y="1783080"/>
            <a:ext cx="4434840" cy="146304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1947672"/>
            <a:ext cx="3886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cos(a, b) = Σ a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
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∈ ℝ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‖v‖ = 1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223760" y="3429000"/>
            <a:ext cx="4434840" cy="21031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на нашем корпусе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1148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0,6</a:t>
            </a: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текст про то же самое
</a:t>
            </a:r>
            <a:r>
              <a:rPr lang="en-US" sz="1700" b="1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– 0,45</a:t>
            </a: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случайный сосед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и английский лежат в одном пространстве смыслов: русский запрос находит англоязычную статью без перевода.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поиска вместо одного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смыслу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нужное, даже если слова совсем другие. Но теряет точные строки: «Анабарский щит», номер листа.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394960" cy="18288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словам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560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точные названия и номера. Русский словарь снимает окончания: «рудного узла» ищется по «рудный узел». Смысла не понимает.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46120" y="3611880"/>
            <a:ext cx="0" cy="41148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0" y="3611880"/>
            <a:ext cx="0" cy="41148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4023360"/>
            <a:ext cx="571500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9048" y="4023360"/>
            <a:ext cx="0" cy="32004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8640" y="4434840"/>
            <a:ext cx="11109960" cy="13258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599432"/>
            <a:ext cx="105613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score(d) = Σ 1 / (k + rank</a:t>
            </a:r>
            <a:r>
              <a:rPr lang="en-US" sz="13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9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(d)),   k = 60
</a:t>
            </a:r>
            <a:r>
              <a:rPr lang="en-US" sz="1900" b="1" dirty="0">
                <a:solidFill>
                  <a:srgbClr val="B0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1-е по смыслу + 3-е по словам = 1/61 + 1/63 = 0,0323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Складывать сами оценки нельзя — косинус и текстовый ранг несопоставимы. А места в списках сопоставимы всегда.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ЗНАНИЯ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Связи: от статей к методам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90000"/>
            <a:ext cx="290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6B635A"/>
                </a:solidFill>
                <a:latin typeface="Calibri"/>
              </a:rPr>
              <a:t>Три разные статьи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00000" y="1990000"/>
            <a:ext cx="2958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6B635A"/>
                </a:solidFill>
                <a:latin typeface="Calibri"/>
              </a:rPr>
              <a:t>Методы из этих статей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0000"/>
            <a:ext cx="29000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" y="2570000"/>
            <a:ext cx="24885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1917"/>
                </a:solidFill>
                <a:latin typeface="Calibri"/>
              </a:rPr>
              <a:t>Металлогения Анабарского щита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030000"/>
            <a:ext cx="24885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статья 2012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40000"/>
            <a:ext cx="29000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" y="3550000"/>
            <a:ext cx="24885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1917"/>
                </a:solidFill>
                <a:latin typeface="Calibri"/>
              </a:rPr>
              <a:t>Линеаменты и рудные узлы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4010000"/>
            <a:ext cx="24885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статья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20000"/>
            <a:ext cx="29000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" y="4530000"/>
            <a:ext cx="24885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1917"/>
                </a:solidFill>
                <a:latin typeface="Calibri"/>
              </a:rPr>
              <a:t>Прогноз по снимкам 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4990000"/>
            <a:ext cx="24885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статья 2021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48640" y="2870000"/>
            <a:ext cx="55136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48640" y="3850000"/>
            <a:ext cx="55136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48640" y="4830000"/>
            <a:ext cx="55136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00000" y="2870000"/>
            <a:ext cx="0" cy="196000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000" y="3850000"/>
            <a:ext cx="6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00000" y="2520000"/>
            <a:ext cx="12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собран из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0000" y="3250000"/>
            <a:ext cx="3000000" cy="120000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5740" y="3400000"/>
            <a:ext cx="258852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1EDE6"/>
                </a:solidFill>
                <a:latin typeface="Calibri"/>
              </a:rPr>
              <a:t>Датасет признаков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5740" y="3850000"/>
            <a:ext cx="258852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1EDE6"/>
                </a:solidFill>
                <a:latin typeface="Calibri"/>
              </a:rPr>
              <a:t>плотность линеаментов, разломы, аномалии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00000" y="3850000"/>
            <a:ext cx="600000" cy="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00000" y="2870000"/>
            <a:ext cx="0" cy="1960000"/>
          </a:xfrm>
          <a:prstGeom prst="line">
            <a:avLst/>
          </a:prstGeom>
          <a:ln w="3175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00000" y="252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B0432A"/>
                </a:solidFill>
                <a:latin typeface="Calibri"/>
              </a:rPr>
              <a:t>применяются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00000" y="2870000"/>
            <a:ext cx="5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700000" y="2460000"/>
            <a:ext cx="29586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1F5F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05740" y="2570000"/>
            <a:ext cx="25471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F5D"/>
                </a:solidFill>
                <a:latin typeface="Calibri"/>
              </a:rPr>
              <a:t>Кокригинг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5740" y="3030000"/>
            <a:ext cx="2547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из статьи 2012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00000" y="3850000"/>
            <a:ext cx="5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700000" y="3440000"/>
            <a:ext cx="29586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3B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05740" y="3550000"/>
            <a:ext cx="25471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3B4A7A"/>
                </a:solidFill>
                <a:latin typeface="Calibri"/>
              </a:rPr>
              <a:t>Линеаментный анализ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5740" y="4010000"/>
            <a:ext cx="2547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из статьи 2018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0000" y="4830000"/>
            <a:ext cx="50000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700000" y="4420000"/>
            <a:ext cx="2958600" cy="820000"/>
          </a:xfrm>
          <a:prstGeom prst="rect">
            <a:avLst/>
          </a:prstGeom>
          <a:solidFill>
            <a:srgbClr val="F1EDE6"/>
          </a:solidFill>
          <a:ln w="31750">
            <a:solidFill>
              <a:srgbClr val="B0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05740" y="4530000"/>
            <a:ext cx="254712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B0432A"/>
                </a:solidFill>
                <a:latin typeface="Calibri"/>
              </a:rPr>
              <a:t>Классификация по 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5740" y="4990000"/>
            <a:ext cx="254712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635A"/>
                </a:solidFill>
                <a:latin typeface="Calibri"/>
              </a:rPr>
              <a:t>из статьи 2021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0000" y="1650000"/>
            <a:ext cx="3600000" cy="620000"/>
          </a:xfrm>
          <a:prstGeom prst="rect">
            <a:avLst/>
          </a:prstGeom>
          <a:noFill/>
          <a:ln w="19050">
            <a:solidFill>
              <a:srgbClr val="6B63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50000" y="1650000"/>
            <a:ext cx="330000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B635A"/>
                </a:solidFill>
                <a:latin typeface="Calibri"/>
              </a:rPr>
              <a:t>…и дальше по графу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200000" y="2270000"/>
            <a:ext cx="0" cy="980000"/>
          </a:xfrm>
          <a:prstGeom prst="line">
            <a:avLst/>
          </a:prstGeom>
          <a:ln w="31750">
            <a:solidFill>
              <a:srgbClr val="6B6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100000" y="2270000"/>
            <a:ext cx="0" cy="980000"/>
          </a:xfrm>
          <a:prstGeom prst="line">
            <a:avLst/>
          </a:prstGeom>
          <a:ln w="31750">
            <a:solidFill>
              <a:srgbClr val="6B6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000000" y="2270000"/>
            <a:ext cx="0" cy="980000"/>
          </a:xfrm>
          <a:prstGeom prst="line">
            <a:avLst/>
          </a:prstGeom>
          <a:ln w="31750">
            <a:solidFill>
              <a:srgbClr val="6B63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Связь означает ровно одно: об этих двух написано в одной статье. Ничего не додумано — за каждой связью стоит список статей, который можно открыть.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за что отвечает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256032" cy="256032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956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из темы, отбор статей, извлечение связей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видеокарта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1109960" cy="713232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852928"/>
            <a:ext cx="256032" cy="25603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7797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2798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PDF: разделы, таблицы, номера страниц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видеокарта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694176"/>
            <a:ext cx="256032" cy="25603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3621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3639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текста в вектор из 1024 чисел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3648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видеокарта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109960" cy="713232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535424"/>
            <a:ext cx="256032" cy="256032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88720" y="4462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фрагментов, оба индекса, граф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44897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локально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5148072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5376672"/>
            <a:ext cx="256032" cy="25603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5303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343400" y="5321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двух поисков в одну выдачу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5330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без модели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на одной машине. Данные не покидают периметр.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ПРОГНОЗА ОРУДЕНЕНИЯ · АНАБАРСКИЙ ЩИТ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хранятся признаки, их паспорта и решения человека о том, чему верить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хранит база данных проекта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240280"/>
            <a:ext cx="457200" cy="128016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smtClean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Территории, сетка ячеек, признаки и их значения в каждой ячейке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3308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240280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Паспорта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значит признак, чем посчитан, на чём основан: обоснование и лицензии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2784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13816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240280"/>
            <a:ext cx="457200" cy="128016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прогон и каждое обращение к модели: входы, версия кода, ответ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числа записано происхождение: из какого слоя, каким скриптом и в каком прогоне оно получено. PostgreSQL 18 с PostGIS, база gis_au_u.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ПРАВИЛО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Агент пишет черновик, решает человек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250317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411480" cy="411480"/>
          </a:xfrm>
          <a:prstGeom prst="rect">
            <a:avLst/>
          </a:prstGeom>
          <a:solidFill>
            <a:srgbClr val="1F5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94560"/>
            <a:ext cx="154305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Calibri"/>
              </a:rPr>
              <a:t>Агент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0459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35A"/>
                </a:solidFill>
                <a:latin typeface="Calibri"/>
              </a:rPr>
              <a:t>модель gemma4:12b пишет смысл признака по фактам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7530" y="2834640"/>
            <a:ext cx="27432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17570" y="1965960"/>
            <a:ext cx="250317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646170" y="2194560"/>
            <a:ext cx="411480" cy="411480"/>
          </a:xfrm>
          <a:prstGeom prst="rect">
            <a:avLst/>
          </a:prstGeom>
          <a:solidFill>
            <a:srgbClr val="B0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46170" y="2194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4810" y="2194560"/>
            <a:ext cx="154305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Calibri"/>
              </a:rPr>
              <a:t>Черновик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6170" y="2743200"/>
            <a:ext cx="20459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35A"/>
                </a:solidFill>
                <a:latin typeface="Calibri"/>
              </a:rPr>
              <a:t>паспорт, связь, цитата — статус «черновик»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6460" y="2834640"/>
            <a:ext cx="27432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86500" y="1965960"/>
            <a:ext cx="250317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15100" y="2194560"/>
            <a:ext cx="411480" cy="411480"/>
          </a:xfrm>
          <a:prstGeom prst="rect">
            <a:avLst/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15100" y="2194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3740" y="2194560"/>
            <a:ext cx="154305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Calibri"/>
              </a:rPr>
              <a:t>Панель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2743200"/>
            <a:ext cx="20459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35A"/>
                </a:solidFill>
                <a:latin typeface="Calibri"/>
              </a:rPr>
              <a:t>очередь: черновик рядом с фактами, на которых он построен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35390" y="2834640"/>
            <a:ext cx="274320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55430" y="1965960"/>
            <a:ext cx="2503170" cy="17373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384030" y="2194560"/>
            <a:ext cx="411480" cy="41148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84030" y="2194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2670" y="2194560"/>
            <a:ext cx="154305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C1917"/>
                </a:solidFill>
                <a:latin typeface="Calibri"/>
              </a:rPr>
              <a:t>Человек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4030" y="2743200"/>
            <a:ext cx="20459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35A"/>
                </a:solidFill>
                <a:latin typeface="Calibri"/>
              </a:rPr>
              <a:t>подтверждает или отклоняет — с причиной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5417820" cy="155448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48691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EDE6"/>
                </a:solidFill>
                <a:latin typeface="Calibri"/>
              </a:rPr>
              <a:t>Замок в самой базе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48691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EDE6"/>
                </a:solidFill>
                <a:latin typeface="Calibri"/>
              </a:rPr>
              <a:t>«Подтверждён» и «отклонён» ставит только член gis_confirmer. Скриптом или правкой напрямую это не обойти.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0780" y="4114800"/>
            <a:ext cx="5417820" cy="15544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5100" y="4343400"/>
            <a:ext cx="48691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C1917"/>
                </a:solidFill>
                <a:latin typeface="Calibri"/>
              </a:rPr>
              <a:t>Всё записано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4754880"/>
            <a:ext cx="48691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35A"/>
                </a:solidFill>
                <a:latin typeface="Calibri"/>
              </a:rPr>
              <a:t>Каждое обращение к модели — строка журнала: модель, отпечаток весов, токены, ответ.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Агент не удаляет данные: у его роли нет такого права. Всё, что он приносит, в том числе литература из базы знаний, ждёт решения человека.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за что отвечает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256032" cy="256032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 + PostGIS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956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Признаки, паспорта, происхождение чисел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F:\GIS-DB, порт 5433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1109960" cy="713232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852928"/>
            <a:ext cx="256032" cy="25603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7797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gemma4:12b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2798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признаков для паспортов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видеокарта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694176"/>
            <a:ext cx="256032" cy="25603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3621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подтверждений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3639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черновиков, решение человека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3648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браузер, порт 8765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109960" cy="713232"/>
          </a:xfrm>
          <a:prstGeom prst="rect">
            <a:avLst/>
          </a:prstGeom>
          <a:solidFill>
            <a:srgbClr val="FFFFFF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535424"/>
            <a:ext cx="256032" cy="256032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88720" y="4462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доступа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не удаляет, вердикт — у человека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44897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gis_agent, gis_human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5148072"/>
            <a:ext cx="11109960" cy="713232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5376672"/>
            <a:ext cx="256032" cy="25603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5303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к базе знаний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343400" y="5321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Литература в обоснование паспортов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5330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скрипт, без модели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машина и своя модель. С базой знаний общего кода нет — только общий словарь понятий.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ПРОГНОЗА ОРУДЕНЕНИЯ · АНАБАРСКИЙ ЩИТ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соединяем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спрашивает про признак — база знаний отвечает цитатами из статей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МОСТ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Общий узел — понятие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1965960" cy="15544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B0432A"/>
                </a:solidFill>
                <a:latin typeface="Calibri"/>
              </a:rPr>
              <a:t>У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C1917"/>
                </a:solidFill>
                <a:latin typeface="Calibri"/>
              </a:rPr>
              <a:t>Признак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посчитан по ASTER, паспорт — черновик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1176" y="2697480"/>
            <a:ext cx="246888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34640" y="1920240"/>
            <a:ext cx="1965960" cy="15544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B0432A"/>
                </a:solidFill>
                <a:latin typeface="Calibri"/>
              </a:rPr>
              <a:t>У БАЗЫ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77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C1917"/>
                </a:solidFill>
                <a:latin typeface="Calibri"/>
              </a:rPr>
              <a:t>Связь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8892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таблица признак ↔ понятие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37176" y="2697480"/>
            <a:ext cx="246888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20640" y="1920240"/>
            <a:ext cx="1965960" cy="155448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03520" y="20574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E08A63"/>
                </a:solidFill>
                <a:latin typeface="Calibri"/>
              </a:rPr>
              <a:t>ОБЩЕЕ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377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1EDE6"/>
                </a:solidFill>
                <a:latin typeface="Calibri"/>
              </a:rPr>
              <a:t>Понятие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8892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DE6"/>
                </a:solidFill>
                <a:latin typeface="Calibri"/>
              </a:rPr>
              <a:t>«гидротермальные изменения»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23176" y="2697480"/>
            <a:ext cx="246888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406640" y="1920240"/>
            <a:ext cx="1965960" cy="15544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89520" y="20574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B0432A"/>
                </a:solidFill>
                <a:latin typeface="Calibri"/>
              </a:rPr>
              <a:t>У БАЗЫ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77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C1917"/>
                </a:solidFill>
                <a:latin typeface="Calibri"/>
              </a:rPr>
              <a:t>Фрагменты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78892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размечены по понятию, с проверкой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09176" y="2697480"/>
            <a:ext cx="246888" cy="0"/>
          </a:xfrm>
          <a:prstGeom prst="line">
            <a:avLst/>
          </a:prstGeom>
          <a:ln w="3810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92640" y="1920240"/>
            <a:ext cx="1965960" cy="155448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75520" y="20574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B0432A"/>
                </a:solidFill>
                <a:latin typeface="Calibri"/>
              </a:rPr>
              <a:t>У БАЗЫ ЗНАНИЙ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37744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C1917"/>
                </a:solidFill>
                <a:latin typeface="Calibri"/>
              </a:rPr>
              <a:t>Цитата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78892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статья, страница, дословно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6B635A"/>
                </a:solidFill>
                <a:latin typeface="Calibri"/>
              </a:rPr>
              <a:t>8 общих понятий — коды совпадают буква в букву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4297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структурный контроль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8040" y="4297680"/>
            <a:ext cx="2651760" cy="59436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05200" y="4297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EDE6"/>
                </a:solidFill>
                <a:latin typeface="Calibri"/>
              </a:rPr>
              <a:t>гидротермальные изменения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7440" y="429768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24600" y="4297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литологический контроль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429768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0" y="42976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магматизм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292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5029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палеодолины и впадины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8040" y="50292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505200" y="5029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плотностная и магнитная неоднородность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7440" y="50292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24600" y="5029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рельеф и геоморфология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502920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44000" y="5029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обнажённость и растительный покров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У базы данных — справочник kb.concept, у базы знаний — vocabulary.yaml с теми же кодами и синонимами на двух языках. Новое понятие заводится сначала в базе данных.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МОСТ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Один запрос — цитаты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6B635A"/>
                </a:solidFill>
                <a:latin typeface="Calibri"/>
              </a:rPr>
              <a:t>Спрашивает база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212080" cy="2194560"/>
          </a:xfrm>
          <a:prstGeom prst="rect">
            <a:avLst/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POST /api/concept</a:t>
            </a:r>
          </a:p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{</a:t>
            </a:r>
          </a:p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  "concept": "гидротермальные изменения",</a:t>
            </a:r>
          </a:p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  "territory": "Билляхская зона",</a:t>
            </a:r>
          </a:p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  "method": "ASTER",</a:t>
            </a:r>
          </a:p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  "limit": 3, "per_doc": 1</a:t>
            </a:r>
          </a:p>
          <a:p>
            <a:pPr algn="l"/>
            <a:r>
              <a:rPr sz="1400" b="0">
                <a:solidFill>
                  <a:srgbClr val="F1EDE6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6B635A"/>
                </a:solidFill>
                <a:latin typeface="Calibri"/>
              </a:rPr>
              <a:t>Отвечает база знаний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011680"/>
            <a:ext cx="5212080" cy="2194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0840" y="219456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{ "title": "…", "year": …,</a:t>
            </a:r>
          </a:p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  "doi": "…", "page": 14,</a:t>
            </a:r>
          </a:p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  "quote": "дословно из статьи",</a:t>
            </a:r>
          </a:p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  "verdict": "подтверждено моделью",</a:t>
            </a:r>
          </a:p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  "as_of": "дата разметки" 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3108960"/>
            <a:ext cx="502920" cy="0"/>
          </a:xfrm>
          <a:prstGeom prst="line">
            <a:avLst/>
          </a:prstGeom>
          <a:ln w="38100">
            <a:solidFill>
              <a:srgbClr val="B043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480560"/>
            <a:ext cx="11109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6B635A"/>
                </a:solidFill>
                <a:latin typeface="Calibri"/>
              </a:rPr>
              <a:t>Пусто — отбор ослабляется, пока не найдётся: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92040"/>
            <a:ext cx="1600000" cy="64008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41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EDE6"/>
                </a:solidFill>
                <a:latin typeface="Calibri"/>
              </a:rPr>
              <a:t>Билляхская зона + ASTER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76072" y="5212080"/>
            <a:ext cx="247128" cy="0"/>
          </a:xfrm>
          <a:prstGeom prst="line">
            <a:avLst/>
          </a:prstGeom>
          <a:ln w="190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450632" y="4892040"/>
            <a:ext cx="1600000" cy="640080"/>
          </a:xfrm>
          <a:prstGeom prst="rect">
            <a:avLst/>
          </a:prstGeom>
          <a:solidFill>
            <a:srgbClr val="F1EDE6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542072" y="4892040"/>
            <a:ext cx="141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Билляхская зона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78064" y="5212080"/>
            <a:ext cx="247128" cy="0"/>
          </a:xfrm>
          <a:prstGeom prst="line">
            <a:avLst/>
          </a:prstGeom>
          <a:ln w="190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352624" y="4892040"/>
            <a:ext cx="1600000" cy="640080"/>
          </a:xfrm>
          <a:prstGeom prst="rect">
            <a:avLst/>
          </a:prstGeom>
          <a:solidFill>
            <a:srgbClr val="F1EDE6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44064" y="4892040"/>
            <a:ext cx="141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Анабарский щит + ASTER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0056" y="5212080"/>
            <a:ext cx="247128" cy="0"/>
          </a:xfrm>
          <a:prstGeom prst="line">
            <a:avLst/>
          </a:prstGeom>
          <a:ln w="190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54616" y="4892040"/>
            <a:ext cx="1600000" cy="640080"/>
          </a:xfrm>
          <a:prstGeom prst="rect">
            <a:avLst/>
          </a:prstGeom>
          <a:solidFill>
            <a:srgbClr val="F1EDE6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6056" y="4892040"/>
            <a:ext cx="141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Анабарский щит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82048" y="5212080"/>
            <a:ext cx="247128" cy="0"/>
          </a:xfrm>
          <a:prstGeom prst="line">
            <a:avLst/>
          </a:prstGeom>
          <a:ln w="190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156608" y="4892040"/>
            <a:ext cx="1600000" cy="640080"/>
          </a:xfrm>
          <a:prstGeom prst="rect">
            <a:avLst/>
          </a:prstGeom>
          <a:solidFill>
            <a:srgbClr val="F1EDE6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48048" y="4892040"/>
            <a:ext cx="141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только ASTER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84040" y="5212080"/>
            <a:ext cx="247128" cy="0"/>
          </a:xfrm>
          <a:prstGeom prst="line">
            <a:avLst/>
          </a:prstGeom>
          <a:ln w="19050">
            <a:solidFill>
              <a:srgbClr val="1C191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058600" y="4892040"/>
            <a:ext cx="1600000" cy="640080"/>
          </a:xfrm>
          <a:prstGeom prst="rect">
            <a:avLst/>
          </a:prstGeom>
          <a:solidFill>
            <a:srgbClr val="F1EDE6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150040" y="4892040"/>
            <a:ext cx="141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C1917"/>
                </a:solidFill>
                <a:latin typeface="Calibri"/>
              </a:rPr>
              <a:t>только понятие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В ответе нет текста, придуманного моделью: Qwen3 заранее проверила, что фрагмент описывает понятие, а цитата сверена со статьёй дословно.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spc="200">
                <a:solidFill>
                  <a:srgbClr val="B0432A"/>
                </a:solidFill>
                <a:latin typeface="Calibri"/>
              </a:rPr>
              <a:t>СОЕДИНЕНИЕ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Calibri"/>
              </a:rPr>
              <a:t>Две машины, один SSH-туннель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4572000" cy="3931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77240" y="2066544"/>
            <a:ext cx="411480" cy="128016"/>
          </a:xfrm>
          <a:prstGeom prst="rect">
            <a:avLst/>
          </a:prstGeom>
          <a:solidFill>
            <a:srgbClr val="1F5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F5F5D"/>
                </a:solidFill>
                <a:latin typeface="Calibri"/>
              </a:rPr>
              <a:t>Компьютер с базой знаний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python georag.py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разметка по понятиям, перед мостом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python georag.py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база знаний отвечает на порту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</a:rPr>
              <a:t>Сервер OpenSSH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0235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включается один раз в Параметрах Windows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783080"/>
            <a:ext cx="4572000" cy="393192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15200" y="2066544"/>
            <a:ext cx="411480" cy="128016"/>
          </a:xfrm>
          <a:prstGeom prst="rect">
            <a:avLst/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3B4A7A"/>
                </a:solidFill>
                <a:latin typeface="Calibri"/>
              </a:rPr>
              <a:t>Компьютер с базой данных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5236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ssh -N -L 8000:127.0.0.1:8000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27355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туннель: localhost:8000 ведёт к базе знаний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7490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52360" y="3840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python scripts/db_kb_evidence.py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8795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цитаты черновиком в паспорта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6634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52360" y="4754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ourier New"/>
              </a:rPr>
              <a:t>python -m gisdb.panel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10235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35A"/>
                </a:solidFill>
                <a:latin typeface="Calibri"/>
              </a:rPr>
              <a:t>человек подтверждает в панели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B0432A"/>
                </a:solidFill>
                <a:latin typeface="Calibri"/>
              </a:rPr>
              <a:t>SSH-туннель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260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B635A"/>
                </a:solidFill>
                <a:latin typeface="Calibri"/>
              </a:rPr>
              <a:t>запрос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257800" y="3337560"/>
            <a:ext cx="1691640" cy="0"/>
          </a:xfrm>
          <a:prstGeom prst="line">
            <a:avLst/>
          </a:prstGeom>
          <a:ln w="38100">
            <a:solidFill>
              <a:srgbClr val="B043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57800" y="3931920"/>
            <a:ext cx="1691640" cy="0"/>
          </a:xfrm>
          <a:prstGeom prst="line">
            <a:avLst/>
          </a:prstGeom>
          <a:ln w="38100">
            <a:solidFill>
              <a:srgbClr val="1F5F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20640" y="40690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B635A"/>
                </a:solidFill>
                <a:latin typeface="Calibri"/>
              </a:rPr>
              <a:t>цитаты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635A"/>
                </a:solidFill>
                <a:latin typeface="Calibri"/>
              </a:rPr>
              <a:t>Если обе базы на одном компьютере, туннель не нужен — адрес тот же. Наружу база знаний не открыта: её порт виден только через туннель.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готово и что дальше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240280"/>
            <a:ext cx="457200" cy="128016"/>
          </a:xfrm>
          <a:prstGeom prst="rect">
            <a:avLst/>
          </a:prstGeom>
          <a:solidFill>
            <a:srgbClr val="3B4A7A"/>
          </a:solidFill>
          <a:ln w="12700">
            <a:solidFill>
              <a:srgbClr val="3B4A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smtClean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словарь из 8 понятий, запрос к базе знаний, скрипт моста, таблицы для статей и цитат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3308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240280"/>
            <a:ext cx="457200" cy="128016"/>
          </a:xfrm>
          <a:prstGeom prst="rect">
            <a:avLst/>
          </a:prstGeom>
          <a:solidFill>
            <a:srgbClr val="1F5F5D"/>
          </a:solidFill>
          <a:ln w="12700">
            <a:solidFill>
              <a:srgbClr val="1F5F5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тестовых копиях обеих баз: 17 проверок моста из 17, подтверждённое человеком не перезаписывается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27848" y="3611880"/>
            <a:ext cx="320040" cy="0"/>
          </a:xfrm>
          <a:prstGeom prst="line">
            <a:avLst/>
          </a:prstGeom>
          <a:noFill/>
          <a:ln w="38100">
            <a:solidFill>
              <a:srgbClr val="1C19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138160" y="1965960"/>
            <a:ext cx="3520440" cy="3337560"/>
          </a:xfrm>
          <a:prstGeom prst="rect">
            <a:avLst/>
          </a:prstGeom>
          <a:solidFill>
            <a:srgbClr val="F1EDE6"/>
          </a:solidFill>
          <a:ln w="31750">
            <a:solidFill>
              <a:srgbClr val="1C19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240280"/>
            <a:ext cx="457200" cy="128016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474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Накатить изменения на рабочую базу, собрать корпус по Анабару, первый прогон моста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рабочей базе мост ещё не запускался: сначала её владелец принимает изменения, потом первый прогон с проверкой в панели.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0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ПРОГНОЗА ОРУДЕНЕНИЯ · АНАБАРСКИЙ ЩИТ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база знаний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система, которая сама ищет, разбирает и связывает геологические знания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B0432A"/>
          </a:solidFill>
          <a:ln w="12700">
            <a:solidFill>
              <a:srgbClr val="B0432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094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2084</Words>
  <Application>Microsoft Office PowerPoint</Application>
  <PresentationFormat>Широкоэкранный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ГеоRAG — модель и база знаний</dc:title>
  <dc:subject>PptxGenJS Presentation</dc:subject>
  <dc:creator>ГеоRAG</dc:creator>
  <cp:lastModifiedBy>Janfik</cp:lastModifiedBy>
  <cp:revision>6</cp:revision>
  <dcterms:created xsi:type="dcterms:W3CDTF">2026-09-15T17:53:32Z</dcterms:created>
  <dcterms:modified xsi:type="dcterms:W3CDTF">2026-09-16T09:33:38Z</dcterms:modified>
</cp:coreProperties>
</file>